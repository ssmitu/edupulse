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sap Condensed Bold" charset="1" panose="020F0806030202060203"/>
      <p:regular r:id="rId16"/>
    </p:embeddedFont>
    <p:embeddedFont>
      <p:font typeface="Anek Bangla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7980" y="-6572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6" y="0"/>
                </a:lnTo>
                <a:lnTo>
                  <a:pt x="5863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823036" y="68294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63056" y="0"/>
                </a:lnTo>
                <a:lnTo>
                  <a:pt x="586305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339512" y="6504729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9"/>
                </a:moveTo>
                <a:lnTo>
                  <a:pt x="0" y="4054579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6712" y="-272308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0"/>
                </a:moveTo>
                <a:lnTo>
                  <a:pt x="7315200" y="0"/>
                </a:lnTo>
                <a:lnTo>
                  <a:pt x="7315200" y="4054579"/>
                </a:lnTo>
                <a:lnTo>
                  <a:pt x="0" y="4054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38350" y="925830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81524" y="-80675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76850" y="1391124"/>
            <a:ext cx="8239042" cy="329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6"/>
              </a:lnSpc>
              <a:spcBef>
                <a:spcPct val="0"/>
              </a:spcBef>
            </a:pPr>
            <a:r>
              <a:rPr lang="en-US" b="true" sz="9454">
                <a:solidFill>
                  <a:srgbClr val="D94B4E"/>
                </a:solidFill>
                <a:latin typeface="Asap Condensed Bold"/>
                <a:ea typeface="Asap Condensed Bold"/>
                <a:cs typeface="Asap Condensed Bold"/>
                <a:sym typeface="Asap Condensed Bold"/>
              </a:rPr>
              <a:t>FIRE DETECTION &amp; ALERT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20294" y="5338812"/>
            <a:ext cx="6152153" cy="116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Incorporating Automatic Fire Mitigation and Safety Guidance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7980" y="-6572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6" y="0"/>
                </a:lnTo>
                <a:lnTo>
                  <a:pt x="5863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823036" y="68294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63056" y="0"/>
                </a:lnTo>
                <a:lnTo>
                  <a:pt x="586305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339512" y="6504729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9"/>
                </a:moveTo>
                <a:lnTo>
                  <a:pt x="0" y="4054579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6712" y="-272308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0"/>
                </a:moveTo>
                <a:lnTo>
                  <a:pt x="7315200" y="0"/>
                </a:lnTo>
                <a:lnTo>
                  <a:pt x="7315200" y="4054579"/>
                </a:lnTo>
                <a:lnTo>
                  <a:pt x="0" y="4054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38350" y="925830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81524" y="-80675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76850" y="1391124"/>
            <a:ext cx="8239042" cy="161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6"/>
              </a:lnSpc>
              <a:spcBef>
                <a:spcPct val="0"/>
              </a:spcBef>
            </a:pPr>
            <a:r>
              <a:rPr lang="en-US" b="true" sz="9454">
                <a:solidFill>
                  <a:srgbClr val="D94B4E"/>
                </a:solidFill>
                <a:latin typeface="Asap Condensed Bold"/>
                <a:ea typeface="Asap Condensed Bold"/>
                <a:cs typeface="Asap Condensed Bold"/>
                <a:sym typeface="Asap Condensed Bold"/>
              </a:rPr>
              <a:t>PRESENTED BY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5076825"/>
            <a:ext cx="6152153" cy="116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7"/>
              </a:lnSpc>
            </a:pPr>
            <a:r>
              <a:rPr lang="en-US" sz="33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Sumona Islam</a:t>
            </a:r>
          </a:p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ID: 20220204072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67923" y="5076825"/>
            <a:ext cx="6152153" cy="116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7"/>
              </a:lnSpc>
            </a:pPr>
            <a:r>
              <a:rPr lang="en-US" sz="33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Jannatul Mawa</a:t>
            </a:r>
          </a:p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ID: 20220204074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39512" y="5076825"/>
            <a:ext cx="6152153" cy="116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7"/>
              </a:lnSpc>
            </a:pPr>
            <a:r>
              <a:rPr lang="en-US" sz="33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Siddika Sultana Mitu</a:t>
            </a:r>
          </a:p>
          <a:p>
            <a:pPr algn="ctr">
              <a:lnSpc>
                <a:spcPts val="4717"/>
              </a:lnSpc>
              <a:spcBef>
                <a:spcPct val="0"/>
              </a:spcBef>
            </a:pPr>
            <a:r>
              <a:rPr lang="en-US" sz="33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ID: 20220204078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7980" y="-6572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6" y="0"/>
                </a:lnTo>
                <a:lnTo>
                  <a:pt x="5863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823036" y="68294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63056" y="0"/>
                </a:lnTo>
                <a:lnTo>
                  <a:pt x="586305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339512" y="6504729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9"/>
                </a:moveTo>
                <a:lnTo>
                  <a:pt x="0" y="4054579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6712" y="-272308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0"/>
                </a:moveTo>
                <a:lnTo>
                  <a:pt x="7315200" y="0"/>
                </a:lnTo>
                <a:lnTo>
                  <a:pt x="7315200" y="4054579"/>
                </a:lnTo>
                <a:lnTo>
                  <a:pt x="0" y="4054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38350" y="925830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81524" y="-80675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76850" y="1391124"/>
            <a:ext cx="8239042" cy="161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6"/>
              </a:lnSpc>
              <a:spcBef>
                <a:spcPct val="0"/>
              </a:spcBef>
            </a:pPr>
            <a:r>
              <a:rPr lang="en-US" b="true" sz="9454">
                <a:solidFill>
                  <a:srgbClr val="D94B4E"/>
                </a:solidFill>
                <a:latin typeface="Asap Condensed Bold"/>
                <a:ea typeface="Asap Condensed Bold"/>
                <a:cs typeface="Asap Condensed Bold"/>
                <a:sym typeface="Asap Condensed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77953" y="2980303"/>
            <a:ext cx="11236835" cy="550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7014" indent="-428507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Smart Fire Detection and Mitigation System using Arduino</a:t>
            </a:r>
          </a:p>
          <a:p>
            <a:pPr algn="l" marL="857014" indent="-428507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Automatically detects fires and initiates mitigation.</a:t>
            </a:r>
          </a:p>
          <a:p>
            <a:pPr algn="l" marL="857014" indent="-428507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Provides safety guidance for evacuation.</a:t>
            </a:r>
          </a:p>
          <a:p>
            <a:pPr algn="l" marL="857014" indent="-428507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Ensures rapid response and reduces potential damage.</a:t>
            </a:r>
          </a:p>
          <a:p>
            <a:pPr algn="ctr">
              <a:lnSpc>
                <a:spcPts val="471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7980" y="-6572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6" y="0"/>
                </a:lnTo>
                <a:lnTo>
                  <a:pt x="5863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823036" y="68294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63056" y="0"/>
                </a:lnTo>
                <a:lnTo>
                  <a:pt x="586305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339512" y="6504729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9"/>
                </a:moveTo>
                <a:lnTo>
                  <a:pt x="0" y="4054579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6712" y="-272308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0"/>
                </a:moveTo>
                <a:lnTo>
                  <a:pt x="7315200" y="0"/>
                </a:lnTo>
                <a:lnTo>
                  <a:pt x="7315200" y="4054579"/>
                </a:lnTo>
                <a:lnTo>
                  <a:pt x="0" y="4054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38350" y="925830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81524" y="-80675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76850" y="1391124"/>
            <a:ext cx="8239042" cy="161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6"/>
              </a:lnSpc>
              <a:spcBef>
                <a:spcPct val="0"/>
              </a:spcBef>
            </a:pPr>
            <a:r>
              <a:rPr lang="en-US" b="true" sz="9454">
                <a:solidFill>
                  <a:srgbClr val="D94B4E"/>
                </a:solidFill>
                <a:latin typeface="Asap Condensed Bold"/>
                <a:ea typeface="Asap Condensed Bold"/>
                <a:cs typeface="Asap Condensed Bold"/>
                <a:sym typeface="Asap Condensed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77953" y="2980303"/>
            <a:ext cx="11236835" cy="621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7014" indent="-428507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Detect fire quickly and reliably using sensors.</a:t>
            </a:r>
          </a:p>
          <a:p>
            <a:pPr algn="l" marL="857014" indent="-428507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Alert occupants locally with a buzzer and LED.</a:t>
            </a:r>
          </a:p>
          <a:p>
            <a:pPr algn="l" marL="857014" indent="-428507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Send remote alerts via SMS using the GSM module.</a:t>
            </a:r>
          </a:p>
          <a:p>
            <a:pPr algn="l" marL="857014" indent="-428507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Automatically initiate fire suppression using a mini peristaltic pump.</a:t>
            </a:r>
          </a:p>
          <a:p>
            <a:pPr algn="l" marL="857014" indent="-428507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Provide clear safety guidance and evacuation instructions on an LCD screen.</a:t>
            </a:r>
          </a:p>
          <a:p>
            <a:pPr algn="ctr">
              <a:lnSpc>
                <a:spcPts val="471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3350" y="1028700"/>
            <a:ext cx="12521300" cy="8999685"/>
          </a:xfrm>
          <a:custGeom>
            <a:avLst/>
            <a:gdLst/>
            <a:ahLst/>
            <a:cxnLst/>
            <a:rect r="r" b="b" t="t" l="l"/>
            <a:pathLst>
              <a:path h="8999685" w="12521300">
                <a:moveTo>
                  <a:pt x="0" y="0"/>
                </a:moveTo>
                <a:lnTo>
                  <a:pt x="12521300" y="0"/>
                </a:lnTo>
                <a:lnTo>
                  <a:pt x="12521300" y="8999685"/>
                </a:lnTo>
                <a:lnTo>
                  <a:pt x="0" y="89996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78573" y="20662"/>
            <a:ext cx="6130853" cy="100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6"/>
              </a:lnSpc>
              <a:spcBef>
                <a:spcPct val="0"/>
              </a:spcBef>
            </a:pPr>
            <a:r>
              <a:rPr lang="en-US" b="true" sz="5890">
                <a:solidFill>
                  <a:srgbClr val="D94B4E"/>
                </a:solidFill>
                <a:latin typeface="Asap Condensed Bold"/>
                <a:ea typeface="Asap Condensed Bold"/>
                <a:cs typeface="Asap Condensed Bold"/>
                <a:sym typeface="Asap Condensed Bold"/>
              </a:rPr>
              <a:t>COMPONENTS USED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7980" y="-6572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6" y="0"/>
                </a:lnTo>
                <a:lnTo>
                  <a:pt x="5863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823036" y="68294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63056" y="0"/>
                </a:lnTo>
                <a:lnTo>
                  <a:pt x="586305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339512" y="6504729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9"/>
                </a:moveTo>
                <a:lnTo>
                  <a:pt x="0" y="4054579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6712" y="-272308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0"/>
                </a:moveTo>
                <a:lnTo>
                  <a:pt x="7315200" y="0"/>
                </a:lnTo>
                <a:lnTo>
                  <a:pt x="7315200" y="4054579"/>
                </a:lnTo>
                <a:lnTo>
                  <a:pt x="0" y="4054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38350" y="925830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81524" y="-80675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83869" y="847725"/>
            <a:ext cx="9720262" cy="161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6"/>
              </a:lnSpc>
              <a:spcBef>
                <a:spcPct val="0"/>
              </a:spcBef>
            </a:pPr>
            <a:r>
              <a:rPr lang="en-US" b="true" sz="9454">
                <a:solidFill>
                  <a:srgbClr val="D94B4E"/>
                </a:solidFill>
                <a:latin typeface="Asap Condensed Bold"/>
                <a:ea typeface="Asap Condensed Bold"/>
                <a:cs typeface="Asap Condensed Bold"/>
                <a:sym typeface="Asap Condensed Bold"/>
              </a:rPr>
              <a:t>WORKING PRINCIPLE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0887" y="2980303"/>
            <a:ext cx="12503775" cy="533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3641" indent="-476821" lvl="1">
              <a:lnSpc>
                <a:spcPts val="6183"/>
              </a:lnSpc>
              <a:buFont typeface="Arial"/>
              <a:buChar char="•"/>
            </a:pPr>
            <a:r>
              <a:rPr lang="en-US" sz="441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Flame sensor detects fire.</a:t>
            </a:r>
          </a:p>
          <a:p>
            <a:pPr algn="l" marL="953641" indent="-476821" lvl="1">
              <a:lnSpc>
                <a:spcPts val="6183"/>
              </a:lnSpc>
              <a:buFont typeface="Arial"/>
              <a:buChar char="•"/>
            </a:pPr>
            <a:r>
              <a:rPr lang="en-US" sz="441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Arduino activates buzzer, LED, and sends SMS via GSM module.</a:t>
            </a:r>
          </a:p>
          <a:p>
            <a:pPr algn="l" marL="953641" indent="-476821" lvl="1">
              <a:lnSpc>
                <a:spcPts val="6183"/>
              </a:lnSpc>
              <a:buFont typeface="Arial"/>
              <a:buChar char="•"/>
            </a:pPr>
            <a:r>
              <a:rPr lang="en-US" sz="441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Arduino displays safety messages on LCD.</a:t>
            </a:r>
          </a:p>
          <a:p>
            <a:pPr algn="l" marL="953641" indent="-476821" lvl="1">
              <a:lnSpc>
                <a:spcPts val="6183"/>
              </a:lnSpc>
              <a:buFont typeface="Arial"/>
              <a:buChar char="•"/>
            </a:pPr>
            <a:r>
              <a:rPr lang="en-US" sz="441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Arduino triggers relay to start the pump and suppress fire.</a:t>
            </a:r>
          </a:p>
          <a:p>
            <a:pPr algn="ctr">
              <a:lnSpc>
                <a:spcPts val="52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7980" y="-6572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6" y="0"/>
                </a:lnTo>
                <a:lnTo>
                  <a:pt x="5863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823036" y="68294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63056" y="0"/>
                </a:lnTo>
                <a:lnTo>
                  <a:pt x="586305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339512" y="6504729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9"/>
                </a:moveTo>
                <a:lnTo>
                  <a:pt x="0" y="4054579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6712" y="-272308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0"/>
                </a:moveTo>
                <a:lnTo>
                  <a:pt x="7315200" y="0"/>
                </a:lnTo>
                <a:lnTo>
                  <a:pt x="7315200" y="4054579"/>
                </a:lnTo>
                <a:lnTo>
                  <a:pt x="0" y="4054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38350" y="925830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81524" y="-80675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83869" y="847725"/>
            <a:ext cx="9720262" cy="161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6"/>
              </a:lnSpc>
              <a:spcBef>
                <a:spcPct val="0"/>
              </a:spcBef>
            </a:pPr>
            <a:r>
              <a:rPr lang="en-US" b="true" sz="9454">
                <a:solidFill>
                  <a:srgbClr val="D94B4E"/>
                </a:solidFill>
                <a:latin typeface="Asap Condensed Bold"/>
                <a:ea typeface="Asap Condensed Bold"/>
                <a:cs typeface="Asap Condensed Bold"/>
                <a:sym typeface="Asap Condensed Bold"/>
              </a:rPr>
              <a:t>ADVANTAGES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0887" y="2980303"/>
            <a:ext cx="12503775" cy="533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3641" indent="-476821" lvl="1">
              <a:lnSpc>
                <a:spcPts val="6183"/>
              </a:lnSpc>
              <a:buFont typeface="Arial"/>
              <a:buChar char="•"/>
            </a:pPr>
            <a:r>
              <a:rPr lang="en-US" sz="441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Early and reliable fire detection.</a:t>
            </a:r>
          </a:p>
          <a:p>
            <a:pPr algn="l" marL="953641" indent="-476821" lvl="1">
              <a:lnSpc>
                <a:spcPts val="6183"/>
              </a:lnSpc>
              <a:buFont typeface="Arial"/>
              <a:buChar char="•"/>
            </a:pPr>
            <a:r>
              <a:rPr lang="en-US" sz="441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Rapid alert dissemination (local and remote).</a:t>
            </a:r>
          </a:p>
          <a:p>
            <a:pPr algn="l" marL="953641" indent="-476821" lvl="1">
              <a:lnSpc>
                <a:spcPts val="6183"/>
              </a:lnSpc>
              <a:buFont typeface="Arial"/>
              <a:buChar char="•"/>
            </a:pPr>
            <a:r>
              <a:rPr lang="en-US" sz="441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Automatic fire suppression minimizes damage.</a:t>
            </a:r>
          </a:p>
          <a:p>
            <a:pPr algn="l" marL="953641" indent="-476821" lvl="1">
              <a:lnSpc>
                <a:spcPts val="6183"/>
              </a:lnSpc>
              <a:buFont typeface="Arial"/>
              <a:buChar char="•"/>
            </a:pPr>
            <a:r>
              <a:rPr lang="en-US" sz="441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Clear safety guidance facilitates safe evacuation.</a:t>
            </a:r>
          </a:p>
          <a:p>
            <a:pPr algn="l" marL="953641" indent="-476821" lvl="1">
              <a:lnSpc>
                <a:spcPts val="6183"/>
              </a:lnSpc>
              <a:buFont typeface="Arial"/>
              <a:buChar char="•"/>
            </a:pPr>
            <a:r>
              <a:rPr lang="en-US" sz="441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Reduces the risk of injury and property loss.</a:t>
            </a:r>
          </a:p>
          <a:p>
            <a:pPr algn="l" marL="953641" indent="-476821" lvl="1">
              <a:lnSpc>
                <a:spcPts val="6183"/>
              </a:lnSpc>
              <a:buFont typeface="Arial"/>
              <a:buChar char="•"/>
            </a:pPr>
            <a:r>
              <a:rPr lang="en-US" sz="441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Cost-effective fire safety solution.</a:t>
            </a:r>
          </a:p>
          <a:p>
            <a:pPr algn="ctr">
              <a:lnSpc>
                <a:spcPts val="52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7980" y="-6572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6" y="0"/>
                </a:lnTo>
                <a:lnTo>
                  <a:pt x="5863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823036" y="68294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63056" y="0"/>
                </a:lnTo>
                <a:lnTo>
                  <a:pt x="586305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339512" y="6504729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9"/>
                </a:moveTo>
                <a:lnTo>
                  <a:pt x="0" y="4054579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6712" y="-272308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0"/>
                </a:moveTo>
                <a:lnTo>
                  <a:pt x="7315200" y="0"/>
                </a:lnTo>
                <a:lnTo>
                  <a:pt x="7315200" y="4054579"/>
                </a:lnTo>
                <a:lnTo>
                  <a:pt x="0" y="4054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38350" y="925830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81524" y="-80675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67914" y="444404"/>
            <a:ext cx="13749722" cy="246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76"/>
              </a:lnSpc>
              <a:spcBef>
                <a:spcPct val="0"/>
              </a:spcBef>
            </a:pPr>
            <a:r>
              <a:rPr lang="en-US" b="true" sz="7054">
                <a:solidFill>
                  <a:srgbClr val="D94B4E"/>
                </a:solidFill>
                <a:latin typeface="Asap Condensed Bold"/>
                <a:ea typeface="Asap Condensed Bold"/>
                <a:cs typeface="Asap Condensed Bold"/>
                <a:sym typeface="Asap Condensed Bold"/>
              </a:rPr>
              <a:t>SUSTAINABILITY, SAFETY &amp; ENVIRONMENTAL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7914" y="3381375"/>
            <a:ext cx="14010784" cy="483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050" indent="-431525" lvl="1">
              <a:lnSpc>
                <a:spcPts val="5596"/>
              </a:lnSpc>
              <a:buFont typeface="Arial"/>
              <a:buChar char="•"/>
            </a:pPr>
            <a:r>
              <a:rPr lang="en-US" sz="399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Reduces environmental damage by quickly suppressing fires.</a:t>
            </a:r>
          </a:p>
          <a:p>
            <a:pPr algn="l" marL="863050" indent="-431525" lvl="1">
              <a:lnSpc>
                <a:spcPts val="5596"/>
              </a:lnSpc>
              <a:buFont typeface="Arial"/>
              <a:buChar char="•"/>
            </a:pPr>
            <a:r>
              <a:rPr lang="en-US" sz="399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Ensures user safety with low-voltage components.</a:t>
            </a:r>
          </a:p>
          <a:p>
            <a:pPr algn="l" marL="863050" indent="-431525" lvl="1">
              <a:lnSpc>
                <a:spcPts val="5596"/>
              </a:lnSpc>
              <a:buFont typeface="Arial"/>
              <a:buChar char="•"/>
            </a:pPr>
            <a:r>
              <a:rPr lang="en-US" sz="399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Minimizes water waste through targeted suppression.</a:t>
            </a:r>
          </a:p>
          <a:p>
            <a:pPr algn="l" marL="863050" indent="-431525" lvl="1">
              <a:lnSpc>
                <a:spcPts val="5596"/>
              </a:lnSpc>
              <a:buFont typeface="Arial"/>
              <a:buChar char="•"/>
            </a:pPr>
            <a:r>
              <a:rPr lang="en-US" sz="399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Easy to install and maintain, for long-term use.</a:t>
            </a:r>
          </a:p>
          <a:p>
            <a:pPr algn="l" marL="863050" indent="-431525" lvl="1">
              <a:lnSpc>
                <a:spcPts val="5596"/>
              </a:lnSpc>
              <a:buFont typeface="Arial"/>
              <a:buChar char="•"/>
            </a:pPr>
            <a:r>
              <a:rPr lang="en-US" sz="399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Reduces overall environmental footprint.</a:t>
            </a:r>
          </a:p>
          <a:p>
            <a:pPr algn="l" marL="863050" indent="-431525" lvl="1">
              <a:lnSpc>
                <a:spcPts val="5596"/>
              </a:lnSpc>
              <a:buFont typeface="Arial"/>
              <a:buChar char="•"/>
            </a:pPr>
            <a:r>
              <a:rPr lang="en-US" sz="399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Promotes responsible component disposal and recycling.</a:t>
            </a:r>
          </a:p>
          <a:p>
            <a:pPr algn="ctr">
              <a:lnSpc>
                <a:spcPts val="47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7980" y="-6572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6" y="0"/>
                </a:lnTo>
                <a:lnTo>
                  <a:pt x="5863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823036" y="68294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63056" y="0"/>
                </a:lnTo>
                <a:lnTo>
                  <a:pt x="586305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339512" y="6504729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9"/>
                </a:moveTo>
                <a:lnTo>
                  <a:pt x="0" y="4054579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6712" y="-272308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0"/>
                </a:moveTo>
                <a:lnTo>
                  <a:pt x="7315200" y="0"/>
                </a:lnTo>
                <a:lnTo>
                  <a:pt x="7315200" y="4054579"/>
                </a:lnTo>
                <a:lnTo>
                  <a:pt x="0" y="4054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38350" y="925830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81524" y="-80675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67914" y="1219200"/>
            <a:ext cx="13749722" cy="152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6"/>
              </a:lnSpc>
              <a:spcBef>
                <a:spcPct val="0"/>
              </a:spcBef>
            </a:pPr>
            <a:r>
              <a:rPr lang="en-US" b="true" sz="8854">
                <a:solidFill>
                  <a:srgbClr val="D94B4E"/>
                </a:solidFill>
                <a:latin typeface="Asap Condensed Bold"/>
                <a:ea typeface="Asap Condensed Bold"/>
                <a:cs typeface="Asap Condensed Bold"/>
                <a:sym typeface="Asap Condensed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7914" y="3338847"/>
            <a:ext cx="14010784" cy="625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050" indent="-431525" lvl="1">
              <a:lnSpc>
                <a:spcPts val="5596"/>
              </a:lnSpc>
              <a:buFont typeface="Arial"/>
              <a:buChar char="•"/>
            </a:pPr>
            <a:r>
              <a:rPr lang="en-US" sz="399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This Arduino-based fire detection and alert system provides early warning, automated mitigation, and clear guidance.</a:t>
            </a:r>
          </a:p>
          <a:p>
            <a:pPr algn="l" marL="863050" indent="-431525" lvl="1">
              <a:lnSpc>
                <a:spcPts val="5596"/>
              </a:lnSpc>
              <a:buFont typeface="Arial"/>
              <a:buChar char="•"/>
            </a:pPr>
            <a:r>
              <a:rPr lang="en-US" sz="399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It enhances safety, reduces potential damage, and offers a cost-effective solution.</a:t>
            </a:r>
          </a:p>
          <a:p>
            <a:pPr algn="l" marL="863050" indent="-431525" lvl="1">
              <a:lnSpc>
                <a:spcPts val="5596"/>
              </a:lnSpc>
              <a:buFont typeface="Arial"/>
              <a:buChar char="•"/>
            </a:pPr>
            <a:r>
              <a:rPr lang="en-US" sz="399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The system combines essential features for proactive fire protection.</a:t>
            </a:r>
          </a:p>
          <a:p>
            <a:pPr algn="l" marL="863050" indent="-431525" lvl="1">
              <a:lnSpc>
                <a:spcPts val="5596"/>
              </a:lnSpc>
              <a:buFont typeface="Arial"/>
              <a:buChar char="•"/>
            </a:pPr>
            <a:r>
              <a:rPr lang="en-US" sz="3997">
                <a:solidFill>
                  <a:srgbClr val="545454"/>
                </a:solidFill>
                <a:latin typeface="Anek Bangla"/>
                <a:ea typeface="Anek Bangla"/>
                <a:cs typeface="Anek Bangla"/>
                <a:sym typeface="Anek Bangla"/>
              </a:rPr>
              <a:t>By integrating these elements, we've created a more secure environment.</a:t>
            </a:r>
          </a:p>
          <a:p>
            <a:pPr algn="ctr">
              <a:lnSpc>
                <a:spcPts val="47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7980" y="-6572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6" y="0"/>
                </a:lnTo>
                <a:lnTo>
                  <a:pt x="58630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823036" y="6829425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586305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63056" y="0"/>
                </a:lnTo>
                <a:lnTo>
                  <a:pt x="5863056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339512" y="6504729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9"/>
                </a:moveTo>
                <a:lnTo>
                  <a:pt x="0" y="4054579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6712" y="-272308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0"/>
                </a:moveTo>
                <a:lnTo>
                  <a:pt x="7315200" y="0"/>
                </a:lnTo>
                <a:lnTo>
                  <a:pt x="7315200" y="4054579"/>
                </a:lnTo>
                <a:lnTo>
                  <a:pt x="0" y="4054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38350" y="925830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81524" y="-806750"/>
            <a:ext cx="7315200" cy="1835450"/>
          </a:xfrm>
          <a:custGeom>
            <a:avLst/>
            <a:gdLst/>
            <a:ahLst/>
            <a:cxnLst/>
            <a:rect r="r" b="b" t="t" l="l"/>
            <a:pathLst>
              <a:path h="1835450" w="7315200">
                <a:moveTo>
                  <a:pt x="0" y="0"/>
                </a:moveTo>
                <a:lnTo>
                  <a:pt x="7315200" y="0"/>
                </a:lnTo>
                <a:lnTo>
                  <a:pt x="7315200" y="1835450"/>
                </a:lnTo>
                <a:lnTo>
                  <a:pt x="0" y="1835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69139" y="4289166"/>
            <a:ext cx="13749722" cy="152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6"/>
              </a:lnSpc>
              <a:spcBef>
                <a:spcPct val="0"/>
              </a:spcBef>
            </a:pPr>
            <a:r>
              <a:rPr lang="en-US" b="true" sz="8854">
                <a:solidFill>
                  <a:srgbClr val="D94B4E"/>
                </a:solidFill>
                <a:latin typeface="Asap Condensed Bold"/>
                <a:ea typeface="Asap Condensed Bold"/>
                <a:cs typeface="Asap Condensed Bold"/>
                <a:sym typeface="Asap Condense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DAGujzg61L0</dc:identifier>
  <dcterms:modified xsi:type="dcterms:W3CDTF">2011-08-01T06:04:30Z</dcterms:modified>
  <cp:revision>1</cp:revision>
  <dc:title>Fire detection &amp; Alert System</dc:title>
</cp:coreProperties>
</file>