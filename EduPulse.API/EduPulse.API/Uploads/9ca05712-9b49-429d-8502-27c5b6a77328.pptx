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nva Sans" charset="1" panose="020B0503030501040103"/>
      <p:regular r:id="rId14"/>
    </p:embeddedFont>
    <p:embeddedFont>
      <p:font typeface="Antonio Ultra-Bold" charset="1" panose="02000803000000000000"/>
      <p:regular r:id="rId15"/>
    </p:embeddedFont>
    <p:embeddedFont>
      <p:font typeface="Poppins Bold" charset="1" panose="00000800000000000000"/>
      <p:regular r:id="rId16"/>
    </p:embeddedFont>
    <p:embeddedFont>
      <p:font typeface="Poppins" charset="1" panose="00000500000000000000"/>
      <p:regular r:id="rId17"/>
    </p:embeddedFont>
    <p:embeddedFont>
      <p:font typeface="Antonio Bold" charset="1" panose="02000803000000000000"/>
      <p:regular r:id="rId18"/>
    </p:embeddedFont>
    <p:embeddedFont>
      <p:font typeface="Lato" charset="1" panose="020F05020202040302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F3FF"/>
        </a:solidFill>
      </p:bgPr>
    </p:bg>
    <p:spTree>
      <p:nvGrpSpPr>
        <p:cNvPr id="1" name=""/>
        <p:cNvGrpSpPr/>
        <p:nvPr/>
      </p:nvGrpSpPr>
      <p:grpSpPr>
        <a:xfrm>
          <a:off x="0" y="0"/>
          <a:ext cx="0" cy="0"/>
          <a:chOff x="0" y="0"/>
          <a:chExt cx="0" cy="0"/>
        </a:xfrm>
      </p:grpSpPr>
      <p:sp>
        <p:nvSpPr>
          <p:cNvPr name="Freeform 2" id="2"/>
          <p:cNvSpPr/>
          <p:nvPr/>
        </p:nvSpPr>
        <p:spPr>
          <a:xfrm flipH="false" flipV="false" rot="0">
            <a:off x="10537842" y="423496"/>
            <a:ext cx="5830971" cy="8834804"/>
          </a:xfrm>
          <a:custGeom>
            <a:avLst/>
            <a:gdLst/>
            <a:ahLst/>
            <a:cxnLst/>
            <a:rect r="r" b="b" t="t" l="l"/>
            <a:pathLst>
              <a:path h="8834804" w="5830971">
                <a:moveTo>
                  <a:pt x="0" y="0"/>
                </a:moveTo>
                <a:lnTo>
                  <a:pt x="5830971" y="0"/>
                </a:lnTo>
                <a:lnTo>
                  <a:pt x="5830971" y="8834804"/>
                </a:lnTo>
                <a:lnTo>
                  <a:pt x="0" y="8834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951307" y="8976561"/>
            <a:ext cx="5598813" cy="1310439"/>
            <a:chOff x="0" y="0"/>
            <a:chExt cx="1474584" cy="345136"/>
          </a:xfrm>
        </p:grpSpPr>
        <p:sp>
          <p:nvSpPr>
            <p:cNvPr name="Freeform 4" id="4"/>
            <p:cNvSpPr/>
            <p:nvPr/>
          </p:nvSpPr>
          <p:spPr>
            <a:xfrm flipH="false" flipV="false" rot="0">
              <a:off x="0" y="0"/>
              <a:ext cx="1474584" cy="345136"/>
            </a:xfrm>
            <a:custGeom>
              <a:avLst/>
              <a:gdLst/>
              <a:ahLst/>
              <a:cxnLst/>
              <a:rect r="r" b="b" t="t" l="l"/>
              <a:pathLst>
                <a:path h="345136" w="1474584">
                  <a:moveTo>
                    <a:pt x="70522" y="0"/>
                  </a:moveTo>
                  <a:lnTo>
                    <a:pt x="1404063" y="0"/>
                  </a:lnTo>
                  <a:cubicBezTo>
                    <a:pt x="1422766" y="0"/>
                    <a:pt x="1440704" y="7430"/>
                    <a:pt x="1453929" y="20655"/>
                  </a:cubicBezTo>
                  <a:cubicBezTo>
                    <a:pt x="1467154" y="33881"/>
                    <a:pt x="1474584" y="51818"/>
                    <a:pt x="1474584" y="70522"/>
                  </a:cubicBezTo>
                  <a:lnTo>
                    <a:pt x="1474584" y="274615"/>
                  </a:lnTo>
                  <a:cubicBezTo>
                    <a:pt x="1474584" y="293318"/>
                    <a:pt x="1467154" y="311256"/>
                    <a:pt x="1453929" y="324481"/>
                  </a:cubicBezTo>
                  <a:cubicBezTo>
                    <a:pt x="1440704" y="337706"/>
                    <a:pt x="1422766" y="345136"/>
                    <a:pt x="1404063" y="345136"/>
                  </a:cubicBezTo>
                  <a:lnTo>
                    <a:pt x="70522" y="345136"/>
                  </a:lnTo>
                  <a:cubicBezTo>
                    <a:pt x="51818" y="345136"/>
                    <a:pt x="33881" y="337706"/>
                    <a:pt x="20655" y="324481"/>
                  </a:cubicBezTo>
                  <a:cubicBezTo>
                    <a:pt x="7430" y="311256"/>
                    <a:pt x="0" y="293318"/>
                    <a:pt x="0" y="274615"/>
                  </a:cubicBezTo>
                  <a:lnTo>
                    <a:pt x="0" y="70522"/>
                  </a:lnTo>
                  <a:cubicBezTo>
                    <a:pt x="0" y="51818"/>
                    <a:pt x="7430" y="33881"/>
                    <a:pt x="20655" y="20655"/>
                  </a:cubicBezTo>
                  <a:cubicBezTo>
                    <a:pt x="33881" y="7430"/>
                    <a:pt x="51818" y="0"/>
                    <a:pt x="70522" y="0"/>
                  </a:cubicBezTo>
                  <a:close/>
                </a:path>
              </a:pathLst>
            </a:custGeom>
            <a:solidFill>
              <a:srgbClr val="034172"/>
            </a:solidFill>
          </p:spPr>
        </p:sp>
        <p:sp>
          <p:nvSpPr>
            <p:cNvPr name="TextBox 5" id="5"/>
            <p:cNvSpPr txBox="true"/>
            <p:nvPr/>
          </p:nvSpPr>
          <p:spPr>
            <a:xfrm>
              <a:off x="0" y="-38100"/>
              <a:ext cx="1474584" cy="38323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115821" y="8976561"/>
            <a:ext cx="5835487" cy="1310439"/>
            <a:chOff x="0" y="0"/>
            <a:chExt cx="1536918" cy="345136"/>
          </a:xfrm>
        </p:grpSpPr>
        <p:sp>
          <p:nvSpPr>
            <p:cNvPr name="Freeform 7" id="7"/>
            <p:cNvSpPr/>
            <p:nvPr/>
          </p:nvSpPr>
          <p:spPr>
            <a:xfrm flipH="false" flipV="false" rot="0">
              <a:off x="0" y="0"/>
              <a:ext cx="1536918" cy="345136"/>
            </a:xfrm>
            <a:custGeom>
              <a:avLst/>
              <a:gdLst/>
              <a:ahLst/>
              <a:cxnLst/>
              <a:rect r="r" b="b" t="t" l="l"/>
              <a:pathLst>
                <a:path h="345136" w="1536918">
                  <a:moveTo>
                    <a:pt x="67662" y="0"/>
                  </a:moveTo>
                  <a:lnTo>
                    <a:pt x="1469257" y="0"/>
                  </a:lnTo>
                  <a:cubicBezTo>
                    <a:pt x="1487202" y="0"/>
                    <a:pt x="1504412" y="7129"/>
                    <a:pt x="1517101" y="19818"/>
                  </a:cubicBezTo>
                  <a:cubicBezTo>
                    <a:pt x="1529790" y="32507"/>
                    <a:pt x="1536918" y="49717"/>
                    <a:pt x="1536918" y="67662"/>
                  </a:cubicBezTo>
                  <a:lnTo>
                    <a:pt x="1536918" y="277475"/>
                  </a:lnTo>
                  <a:cubicBezTo>
                    <a:pt x="1536918" y="295420"/>
                    <a:pt x="1529790" y="312630"/>
                    <a:pt x="1517101" y="325319"/>
                  </a:cubicBezTo>
                  <a:cubicBezTo>
                    <a:pt x="1504412" y="338008"/>
                    <a:pt x="1487202" y="345136"/>
                    <a:pt x="1469257" y="345136"/>
                  </a:cubicBezTo>
                  <a:lnTo>
                    <a:pt x="67662" y="345136"/>
                  </a:lnTo>
                  <a:cubicBezTo>
                    <a:pt x="49717" y="345136"/>
                    <a:pt x="32507" y="338008"/>
                    <a:pt x="19818" y="325319"/>
                  </a:cubicBezTo>
                  <a:cubicBezTo>
                    <a:pt x="7129" y="312630"/>
                    <a:pt x="0" y="295420"/>
                    <a:pt x="0" y="277475"/>
                  </a:cubicBezTo>
                  <a:lnTo>
                    <a:pt x="0" y="67662"/>
                  </a:lnTo>
                  <a:cubicBezTo>
                    <a:pt x="0" y="49717"/>
                    <a:pt x="7129" y="32507"/>
                    <a:pt x="19818" y="19818"/>
                  </a:cubicBezTo>
                  <a:cubicBezTo>
                    <a:pt x="32507" y="7129"/>
                    <a:pt x="49717" y="0"/>
                    <a:pt x="67662" y="0"/>
                  </a:cubicBezTo>
                  <a:close/>
                </a:path>
              </a:pathLst>
            </a:custGeom>
            <a:solidFill>
              <a:srgbClr val="044E79"/>
            </a:solidFill>
          </p:spPr>
        </p:sp>
        <p:sp>
          <p:nvSpPr>
            <p:cNvPr name="TextBox 8" id="8"/>
            <p:cNvSpPr txBox="true"/>
            <p:nvPr/>
          </p:nvSpPr>
          <p:spPr>
            <a:xfrm>
              <a:off x="0" y="-38100"/>
              <a:ext cx="1536918" cy="383236"/>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Canva Sans"/>
                  <a:ea typeface="Canva Sans"/>
                  <a:cs typeface="Canva Sans"/>
                  <a:sym typeface="Canva Sans"/>
                </a:rPr>
                <a:t>MZ</a:t>
              </a:r>
            </a:p>
          </p:txBody>
        </p:sp>
      </p:grpSp>
      <p:grpSp>
        <p:nvGrpSpPr>
          <p:cNvPr name="Group 9" id="9"/>
          <p:cNvGrpSpPr/>
          <p:nvPr/>
        </p:nvGrpSpPr>
        <p:grpSpPr>
          <a:xfrm rot="0">
            <a:off x="719407" y="8976561"/>
            <a:ext cx="5396414" cy="1310439"/>
            <a:chOff x="0" y="0"/>
            <a:chExt cx="1421278" cy="345136"/>
          </a:xfrm>
        </p:grpSpPr>
        <p:sp>
          <p:nvSpPr>
            <p:cNvPr name="Freeform 10" id="10"/>
            <p:cNvSpPr/>
            <p:nvPr/>
          </p:nvSpPr>
          <p:spPr>
            <a:xfrm flipH="false" flipV="false" rot="0">
              <a:off x="0" y="0"/>
              <a:ext cx="1421278" cy="345136"/>
            </a:xfrm>
            <a:custGeom>
              <a:avLst/>
              <a:gdLst/>
              <a:ahLst/>
              <a:cxnLst/>
              <a:rect r="r" b="b" t="t" l="l"/>
              <a:pathLst>
                <a:path h="345136" w="1421278">
                  <a:moveTo>
                    <a:pt x="73167" y="0"/>
                  </a:moveTo>
                  <a:lnTo>
                    <a:pt x="1348111" y="0"/>
                  </a:lnTo>
                  <a:cubicBezTo>
                    <a:pt x="1388520" y="0"/>
                    <a:pt x="1421278" y="32758"/>
                    <a:pt x="1421278" y="73167"/>
                  </a:cubicBezTo>
                  <a:lnTo>
                    <a:pt x="1421278" y="271970"/>
                  </a:lnTo>
                  <a:cubicBezTo>
                    <a:pt x="1421278" y="291375"/>
                    <a:pt x="1413569" y="309985"/>
                    <a:pt x="1399848" y="323706"/>
                  </a:cubicBezTo>
                  <a:cubicBezTo>
                    <a:pt x="1386126" y="337428"/>
                    <a:pt x="1367516" y="345136"/>
                    <a:pt x="1348111" y="345136"/>
                  </a:cubicBezTo>
                  <a:lnTo>
                    <a:pt x="73167" y="345136"/>
                  </a:lnTo>
                  <a:cubicBezTo>
                    <a:pt x="32758" y="345136"/>
                    <a:pt x="0" y="312378"/>
                    <a:pt x="0" y="271970"/>
                  </a:cubicBezTo>
                  <a:lnTo>
                    <a:pt x="0" y="73167"/>
                  </a:lnTo>
                  <a:cubicBezTo>
                    <a:pt x="0" y="53762"/>
                    <a:pt x="7709" y="35151"/>
                    <a:pt x="21430" y="21430"/>
                  </a:cubicBezTo>
                  <a:cubicBezTo>
                    <a:pt x="35151" y="7709"/>
                    <a:pt x="53762" y="0"/>
                    <a:pt x="73167" y="0"/>
                  </a:cubicBezTo>
                  <a:close/>
                </a:path>
              </a:pathLst>
            </a:custGeom>
            <a:solidFill>
              <a:srgbClr val="A1C1EB"/>
            </a:solidFill>
          </p:spPr>
        </p:sp>
        <p:sp>
          <p:nvSpPr>
            <p:cNvPr name="TextBox 11" id="11"/>
            <p:cNvSpPr txBox="true"/>
            <p:nvPr/>
          </p:nvSpPr>
          <p:spPr>
            <a:xfrm>
              <a:off x="0" y="-38100"/>
              <a:ext cx="1421278" cy="38323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853468" y="4416196"/>
            <a:ext cx="6170381" cy="47625"/>
            <a:chOff x="0" y="0"/>
            <a:chExt cx="1625121" cy="12543"/>
          </a:xfrm>
        </p:grpSpPr>
        <p:sp>
          <p:nvSpPr>
            <p:cNvPr name="Freeform 13" id="13"/>
            <p:cNvSpPr/>
            <p:nvPr/>
          </p:nvSpPr>
          <p:spPr>
            <a:xfrm flipH="false" flipV="false" rot="0">
              <a:off x="0" y="0"/>
              <a:ext cx="1625121" cy="12543"/>
            </a:xfrm>
            <a:custGeom>
              <a:avLst/>
              <a:gdLst/>
              <a:ahLst/>
              <a:cxnLst/>
              <a:rect r="r" b="b" t="t" l="l"/>
              <a:pathLst>
                <a:path h="12543" w="1625121">
                  <a:moveTo>
                    <a:pt x="6272" y="0"/>
                  </a:moveTo>
                  <a:lnTo>
                    <a:pt x="1618849" y="0"/>
                  </a:lnTo>
                  <a:cubicBezTo>
                    <a:pt x="1620513" y="0"/>
                    <a:pt x="1622108" y="661"/>
                    <a:pt x="1623284" y="1837"/>
                  </a:cubicBezTo>
                  <a:cubicBezTo>
                    <a:pt x="1624460" y="3013"/>
                    <a:pt x="1625121" y="4608"/>
                    <a:pt x="1625121" y="6272"/>
                  </a:cubicBezTo>
                  <a:lnTo>
                    <a:pt x="1625121" y="6272"/>
                  </a:lnTo>
                  <a:cubicBezTo>
                    <a:pt x="1625121" y="7935"/>
                    <a:pt x="1624460" y="9530"/>
                    <a:pt x="1623284" y="10706"/>
                  </a:cubicBezTo>
                  <a:cubicBezTo>
                    <a:pt x="1622108" y="11882"/>
                    <a:pt x="1620513" y="12543"/>
                    <a:pt x="1618849"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02375A"/>
            </a:solidFill>
          </p:spPr>
        </p:sp>
        <p:sp>
          <p:nvSpPr>
            <p:cNvPr name="TextBox 14" id="14"/>
            <p:cNvSpPr txBox="true"/>
            <p:nvPr/>
          </p:nvSpPr>
          <p:spPr>
            <a:xfrm>
              <a:off x="0" y="-38100"/>
              <a:ext cx="1625121" cy="50643"/>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719407" y="1870179"/>
            <a:ext cx="8424593" cy="1867138"/>
          </a:xfrm>
          <a:prstGeom prst="rect">
            <a:avLst/>
          </a:prstGeom>
        </p:spPr>
        <p:txBody>
          <a:bodyPr anchor="t" rtlCol="false" tIns="0" lIns="0" bIns="0" rIns="0">
            <a:spAutoFit/>
          </a:bodyPr>
          <a:lstStyle/>
          <a:p>
            <a:pPr algn="l">
              <a:lnSpc>
                <a:spcPts val="14213"/>
              </a:lnSpc>
            </a:pPr>
            <a:r>
              <a:rPr lang="en-US" b="true" sz="13283">
                <a:solidFill>
                  <a:srgbClr val="003C64"/>
                </a:solidFill>
                <a:latin typeface="Antonio Ultra-Bold"/>
                <a:ea typeface="Antonio Ultra-Bold"/>
                <a:cs typeface="Antonio Ultra-Bold"/>
                <a:sym typeface="Antonio Ultra-Bold"/>
              </a:rPr>
              <a:t>SERENBLUE</a:t>
            </a:r>
          </a:p>
        </p:txBody>
      </p:sp>
      <p:sp>
        <p:nvSpPr>
          <p:cNvPr name="TextBox 17" id="17"/>
          <p:cNvSpPr txBox="true"/>
          <p:nvPr/>
        </p:nvSpPr>
        <p:spPr>
          <a:xfrm rot="0">
            <a:off x="853468" y="5851868"/>
            <a:ext cx="7204647" cy="717550"/>
          </a:xfrm>
          <a:prstGeom prst="rect">
            <a:avLst/>
          </a:prstGeom>
        </p:spPr>
        <p:txBody>
          <a:bodyPr anchor="t" rtlCol="false" tIns="0" lIns="0" bIns="0" rIns="0">
            <a:spAutoFit/>
          </a:bodyPr>
          <a:lstStyle/>
          <a:p>
            <a:pPr algn="l">
              <a:lnSpc>
                <a:spcPts val="5599"/>
              </a:lnSpc>
            </a:pPr>
            <a:r>
              <a:rPr lang="en-US" sz="3999" b="true">
                <a:solidFill>
                  <a:srgbClr val="003C64"/>
                </a:solidFill>
                <a:latin typeface="Poppins Bold"/>
                <a:ea typeface="Poppins Bold"/>
                <a:cs typeface="Poppins Bold"/>
                <a:sym typeface="Poppins Bold"/>
              </a:rPr>
              <a:t>Your Health, Our Priority</a:t>
            </a:r>
          </a:p>
        </p:txBody>
      </p:sp>
      <p:sp>
        <p:nvSpPr>
          <p:cNvPr name="TextBox 18" id="18"/>
          <p:cNvSpPr txBox="true"/>
          <p:nvPr/>
        </p:nvSpPr>
        <p:spPr>
          <a:xfrm rot="0">
            <a:off x="1608666" y="9004739"/>
            <a:ext cx="4151290" cy="1128268"/>
          </a:xfrm>
          <a:prstGeom prst="rect">
            <a:avLst/>
          </a:prstGeom>
        </p:spPr>
        <p:txBody>
          <a:bodyPr anchor="t" rtlCol="false" tIns="0" lIns="0" bIns="0" rIns="0">
            <a:spAutoFit/>
          </a:bodyPr>
          <a:lstStyle/>
          <a:p>
            <a:pPr algn="l">
              <a:lnSpc>
                <a:spcPts val="4486"/>
              </a:lnSpc>
            </a:pPr>
            <a:r>
              <a:rPr lang="en-US" sz="3204">
                <a:solidFill>
                  <a:srgbClr val="003C64"/>
                </a:solidFill>
                <a:latin typeface="Poppins"/>
                <a:ea typeface="Poppins"/>
                <a:cs typeface="Poppins"/>
                <a:sym typeface="Poppins"/>
              </a:rPr>
              <a:t>Sumona Islam</a:t>
            </a:r>
          </a:p>
          <a:p>
            <a:pPr algn="l">
              <a:lnSpc>
                <a:spcPts val="4486"/>
              </a:lnSpc>
            </a:pPr>
            <a:r>
              <a:rPr lang="en-US" sz="3204">
                <a:solidFill>
                  <a:srgbClr val="003C64"/>
                </a:solidFill>
                <a:latin typeface="Poppins"/>
                <a:ea typeface="Poppins"/>
                <a:cs typeface="Poppins"/>
                <a:sym typeface="Poppins"/>
              </a:rPr>
              <a:t>ID: 20220204072</a:t>
            </a:r>
          </a:p>
        </p:txBody>
      </p:sp>
      <p:sp>
        <p:nvSpPr>
          <p:cNvPr name="TextBox 19" id="19"/>
          <p:cNvSpPr txBox="true"/>
          <p:nvPr/>
        </p:nvSpPr>
        <p:spPr>
          <a:xfrm rot="0">
            <a:off x="6780971" y="8871786"/>
            <a:ext cx="4226935" cy="1223708"/>
          </a:xfrm>
          <a:prstGeom prst="rect">
            <a:avLst/>
          </a:prstGeom>
        </p:spPr>
        <p:txBody>
          <a:bodyPr anchor="t" rtlCol="false" tIns="0" lIns="0" bIns="0" rIns="0">
            <a:spAutoFit/>
          </a:bodyPr>
          <a:lstStyle/>
          <a:p>
            <a:pPr algn="l">
              <a:lnSpc>
                <a:spcPts val="4744"/>
              </a:lnSpc>
            </a:pPr>
            <a:r>
              <a:rPr lang="en-US" sz="3388">
                <a:solidFill>
                  <a:srgbClr val="FFFFFF"/>
                </a:solidFill>
                <a:latin typeface="Poppins"/>
                <a:ea typeface="Poppins"/>
                <a:cs typeface="Poppins"/>
                <a:sym typeface="Poppins"/>
              </a:rPr>
              <a:t>Jannatul Mawa</a:t>
            </a:r>
          </a:p>
          <a:p>
            <a:pPr algn="l">
              <a:lnSpc>
                <a:spcPts val="4744"/>
              </a:lnSpc>
            </a:pPr>
            <a:r>
              <a:rPr lang="en-US" sz="3388">
                <a:solidFill>
                  <a:srgbClr val="FFFFFF"/>
                </a:solidFill>
                <a:latin typeface="Poppins"/>
                <a:ea typeface="Poppins"/>
                <a:cs typeface="Poppins"/>
                <a:sym typeface="Poppins"/>
              </a:rPr>
              <a:t>ID: 20220204074</a:t>
            </a:r>
          </a:p>
        </p:txBody>
      </p:sp>
      <p:sp>
        <p:nvSpPr>
          <p:cNvPr name="TextBox 20" id="20"/>
          <p:cNvSpPr txBox="true"/>
          <p:nvPr/>
        </p:nvSpPr>
        <p:spPr>
          <a:xfrm rot="0">
            <a:off x="12613446" y="8950246"/>
            <a:ext cx="5775163" cy="1218203"/>
          </a:xfrm>
          <a:prstGeom prst="rect">
            <a:avLst/>
          </a:prstGeom>
        </p:spPr>
        <p:txBody>
          <a:bodyPr anchor="t" rtlCol="false" tIns="0" lIns="0" bIns="0" rIns="0">
            <a:spAutoFit/>
          </a:bodyPr>
          <a:lstStyle/>
          <a:p>
            <a:pPr algn="l">
              <a:lnSpc>
                <a:spcPts val="4779"/>
              </a:lnSpc>
            </a:pPr>
            <a:r>
              <a:rPr lang="en-US" sz="3414">
                <a:solidFill>
                  <a:srgbClr val="FFFFFF"/>
                </a:solidFill>
                <a:latin typeface="Poppins"/>
                <a:ea typeface="Poppins"/>
                <a:cs typeface="Poppins"/>
                <a:sym typeface="Poppins"/>
              </a:rPr>
              <a:t>Siddika Sultana Mitu</a:t>
            </a:r>
          </a:p>
          <a:p>
            <a:pPr algn="l">
              <a:lnSpc>
                <a:spcPts val="4779"/>
              </a:lnSpc>
            </a:pPr>
            <a:r>
              <a:rPr lang="en-US" sz="3414">
                <a:solidFill>
                  <a:srgbClr val="FFFFFF"/>
                </a:solidFill>
                <a:latin typeface="Poppins"/>
                <a:ea typeface="Poppins"/>
                <a:cs typeface="Poppins"/>
                <a:sym typeface="Poppins"/>
              </a:rPr>
              <a:t>ID: 20220204078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34172"/>
        </a:solidFill>
      </p:bgPr>
    </p:bg>
    <p:spTree>
      <p:nvGrpSpPr>
        <p:cNvPr id="1" name=""/>
        <p:cNvGrpSpPr/>
        <p:nvPr/>
      </p:nvGrpSpPr>
      <p:grpSpPr>
        <a:xfrm>
          <a:off x="0" y="0"/>
          <a:ext cx="0" cy="0"/>
          <a:chOff x="0" y="0"/>
          <a:chExt cx="0" cy="0"/>
        </a:xfrm>
      </p:grpSpPr>
      <p:grpSp>
        <p:nvGrpSpPr>
          <p:cNvPr name="Group 2" id="2"/>
          <p:cNvGrpSpPr/>
          <p:nvPr/>
        </p:nvGrpSpPr>
        <p:grpSpPr>
          <a:xfrm rot="0">
            <a:off x="1671701" y="1683858"/>
            <a:ext cx="10022003" cy="6919285"/>
            <a:chOff x="0" y="0"/>
            <a:chExt cx="2639540" cy="1822363"/>
          </a:xfrm>
        </p:grpSpPr>
        <p:sp>
          <p:nvSpPr>
            <p:cNvPr name="Freeform 3" id="3"/>
            <p:cNvSpPr/>
            <p:nvPr/>
          </p:nvSpPr>
          <p:spPr>
            <a:xfrm flipH="false" flipV="false" rot="0">
              <a:off x="0" y="0"/>
              <a:ext cx="2639540" cy="1822363"/>
            </a:xfrm>
            <a:custGeom>
              <a:avLst/>
              <a:gdLst/>
              <a:ahLst/>
              <a:cxnLst/>
              <a:rect r="r" b="b" t="t" l="l"/>
              <a:pathLst>
                <a:path h="1822363" w="2639540">
                  <a:moveTo>
                    <a:pt x="77249" y="0"/>
                  </a:moveTo>
                  <a:lnTo>
                    <a:pt x="2562291" y="0"/>
                  </a:lnTo>
                  <a:cubicBezTo>
                    <a:pt x="2604954" y="0"/>
                    <a:pt x="2639540" y="34586"/>
                    <a:pt x="2639540" y="77249"/>
                  </a:cubicBezTo>
                  <a:lnTo>
                    <a:pt x="2639540" y="1745114"/>
                  </a:lnTo>
                  <a:cubicBezTo>
                    <a:pt x="2639540" y="1787777"/>
                    <a:pt x="2604954" y="1822363"/>
                    <a:pt x="2562291" y="1822363"/>
                  </a:cubicBezTo>
                  <a:lnTo>
                    <a:pt x="77249" y="1822363"/>
                  </a:lnTo>
                  <a:cubicBezTo>
                    <a:pt x="34586" y="1822363"/>
                    <a:pt x="0" y="1787777"/>
                    <a:pt x="0" y="1745114"/>
                  </a:cubicBezTo>
                  <a:lnTo>
                    <a:pt x="0" y="77249"/>
                  </a:lnTo>
                  <a:cubicBezTo>
                    <a:pt x="0" y="34586"/>
                    <a:pt x="34586" y="0"/>
                    <a:pt x="77249" y="0"/>
                  </a:cubicBezTo>
                  <a:close/>
                </a:path>
              </a:pathLst>
            </a:custGeom>
            <a:solidFill>
              <a:srgbClr val="E9F3FF"/>
            </a:solidFill>
          </p:spPr>
        </p:sp>
        <p:sp>
          <p:nvSpPr>
            <p:cNvPr name="TextBox 4" id="4"/>
            <p:cNvSpPr txBox="true"/>
            <p:nvPr/>
          </p:nvSpPr>
          <p:spPr>
            <a:xfrm>
              <a:off x="0" y="-38100"/>
              <a:ext cx="2639540" cy="18604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093497" y="1461053"/>
            <a:ext cx="4600931" cy="6895129"/>
          </a:xfrm>
          <a:custGeom>
            <a:avLst/>
            <a:gdLst/>
            <a:ahLst/>
            <a:cxnLst/>
            <a:rect r="r" b="b" t="t" l="l"/>
            <a:pathLst>
              <a:path h="6895129" w="4600931">
                <a:moveTo>
                  <a:pt x="0" y="0"/>
                </a:moveTo>
                <a:lnTo>
                  <a:pt x="4600931" y="0"/>
                </a:lnTo>
                <a:lnTo>
                  <a:pt x="4600931" y="6895128"/>
                </a:lnTo>
                <a:lnTo>
                  <a:pt x="0" y="68951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079762" y="3421256"/>
            <a:ext cx="5969160" cy="47625"/>
            <a:chOff x="0" y="0"/>
            <a:chExt cx="1572124" cy="12543"/>
          </a:xfrm>
        </p:grpSpPr>
        <p:sp>
          <p:nvSpPr>
            <p:cNvPr name="Freeform 8" id="8"/>
            <p:cNvSpPr/>
            <p:nvPr/>
          </p:nvSpPr>
          <p:spPr>
            <a:xfrm flipH="false" flipV="false" rot="0">
              <a:off x="0" y="0"/>
              <a:ext cx="1572124" cy="12543"/>
            </a:xfrm>
            <a:custGeom>
              <a:avLst/>
              <a:gdLst/>
              <a:ahLst/>
              <a:cxnLst/>
              <a:rect r="r" b="b" t="t" l="l"/>
              <a:pathLst>
                <a:path h="12543" w="1572124">
                  <a:moveTo>
                    <a:pt x="6272" y="0"/>
                  </a:moveTo>
                  <a:lnTo>
                    <a:pt x="1565853" y="0"/>
                  </a:lnTo>
                  <a:cubicBezTo>
                    <a:pt x="1567516" y="0"/>
                    <a:pt x="1569111" y="661"/>
                    <a:pt x="1570287" y="1837"/>
                  </a:cubicBezTo>
                  <a:cubicBezTo>
                    <a:pt x="1571464" y="3013"/>
                    <a:pt x="1572124" y="4608"/>
                    <a:pt x="1572124" y="6272"/>
                  </a:cubicBezTo>
                  <a:lnTo>
                    <a:pt x="1572124" y="6272"/>
                  </a:lnTo>
                  <a:cubicBezTo>
                    <a:pt x="1572124" y="7935"/>
                    <a:pt x="1571464" y="9530"/>
                    <a:pt x="1570287" y="10706"/>
                  </a:cubicBezTo>
                  <a:cubicBezTo>
                    <a:pt x="1569111" y="11882"/>
                    <a:pt x="1567516" y="12543"/>
                    <a:pt x="1565853"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034172"/>
            </a:solidFill>
          </p:spPr>
        </p:sp>
        <p:sp>
          <p:nvSpPr>
            <p:cNvPr name="TextBox 9" id="9"/>
            <p:cNvSpPr txBox="true"/>
            <p:nvPr/>
          </p:nvSpPr>
          <p:spPr>
            <a:xfrm>
              <a:off x="0" y="-38100"/>
              <a:ext cx="1572124" cy="506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079762" y="2459608"/>
            <a:ext cx="7064238" cy="961648"/>
          </a:xfrm>
          <a:prstGeom prst="rect">
            <a:avLst/>
          </a:prstGeom>
        </p:spPr>
        <p:txBody>
          <a:bodyPr anchor="t" rtlCol="false" tIns="0" lIns="0" bIns="0" rIns="0">
            <a:spAutoFit/>
          </a:bodyPr>
          <a:lstStyle/>
          <a:p>
            <a:pPr algn="l">
              <a:lnSpc>
                <a:spcPts val="7383"/>
              </a:lnSpc>
            </a:pPr>
            <a:r>
              <a:rPr lang="en-US" b="true" sz="6900">
                <a:solidFill>
                  <a:srgbClr val="003C64"/>
                </a:solidFill>
                <a:latin typeface="Antonio Bold"/>
                <a:ea typeface="Antonio Bold"/>
                <a:cs typeface="Antonio Bold"/>
                <a:sym typeface="Antonio Bold"/>
              </a:rPr>
              <a:t>TABLE OF CONTENTS</a:t>
            </a:r>
          </a:p>
        </p:txBody>
      </p:sp>
      <p:sp>
        <p:nvSpPr>
          <p:cNvPr name="TextBox 11" id="11"/>
          <p:cNvSpPr txBox="true"/>
          <p:nvPr/>
        </p:nvSpPr>
        <p:spPr>
          <a:xfrm rot="0">
            <a:off x="2079762" y="3922261"/>
            <a:ext cx="4530458" cy="2807539"/>
          </a:xfrm>
          <a:prstGeom prst="rect">
            <a:avLst/>
          </a:prstGeom>
        </p:spPr>
        <p:txBody>
          <a:bodyPr anchor="t" rtlCol="false" tIns="0" lIns="0" bIns="0" rIns="0">
            <a:spAutoFit/>
          </a:bodyPr>
          <a:lstStyle/>
          <a:p>
            <a:pPr algn="l" marL="777344" indent="-388672" lvl="1">
              <a:lnSpc>
                <a:spcPts val="7597"/>
              </a:lnSpc>
              <a:buFont typeface="Arial"/>
              <a:buChar char="•"/>
            </a:pPr>
            <a:r>
              <a:rPr lang="en-US" sz="3600">
                <a:solidFill>
                  <a:srgbClr val="003C64"/>
                </a:solidFill>
                <a:latin typeface="Poppins"/>
                <a:ea typeface="Poppins"/>
                <a:cs typeface="Poppins"/>
                <a:sym typeface="Poppins"/>
              </a:rPr>
              <a:t>About Us</a:t>
            </a:r>
          </a:p>
          <a:p>
            <a:pPr algn="l" marL="777344" indent="-388672" lvl="1">
              <a:lnSpc>
                <a:spcPts val="7597"/>
              </a:lnSpc>
              <a:buFont typeface="Arial"/>
              <a:buChar char="•"/>
            </a:pPr>
            <a:r>
              <a:rPr lang="en-US" sz="3600">
                <a:solidFill>
                  <a:srgbClr val="003C64"/>
                </a:solidFill>
                <a:latin typeface="Poppins"/>
                <a:ea typeface="Poppins"/>
                <a:cs typeface="Poppins"/>
                <a:sym typeface="Poppins"/>
              </a:rPr>
              <a:t>Our Vision &amp; Mission</a:t>
            </a:r>
          </a:p>
        </p:txBody>
      </p:sp>
      <p:sp>
        <p:nvSpPr>
          <p:cNvPr name="TextBox 12" id="12"/>
          <p:cNvSpPr txBox="true"/>
          <p:nvPr/>
        </p:nvSpPr>
        <p:spPr>
          <a:xfrm rot="0">
            <a:off x="6682702" y="3787477"/>
            <a:ext cx="4381804" cy="3645885"/>
          </a:xfrm>
          <a:prstGeom prst="rect">
            <a:avLst/>
          </a:prstGeom>
        </p:spPr>
        <p:txBody>
          <a:bodyPr anchor="t" rtlCol="false" tIns="0" lIns="0" bIns="0" rIns="0">
            <a:spAutoFit/>
          </a:bodyPr>
          <a:lstStyle/>
          <a:p>
            <a:pPr algn="l" marL="751838" indent="-375919" lvl="1">
              <a:lnSpc>
                <a:spcPts val="7347"/>
              </a:lnSpc>
              <a:buFont typeface="Arial"/>
              <a:buChar char="•"/>
            </a:pPr>
            <a:r>
              <a:rPr lang="en-US" sz="3482">
                <a:solidFill>
                  <a:srgbClr val="003C64"/>
                </a:solidFill>
                <a:latin typeface="Poppins"/>
                <a:ea typeface="Poppins"/>
                <a:cs typeface="Poppins"/>
                <a:sym typeface="Poppins"/>
              </a:rPr>
              <a:t>Our Services</a:t>
            </a:r>
          </a:p>
          <a:p>
            <a:pPr algn="l" marL="751838" indent="-375919" lvl="1">
              <a:lnSpc>
                <a:spcPts val="7347"/>
              </a:lnSpc>
              <a:buFont typeface="Arial"/>
              <a:buChar char="•"/>
            </a:pPr>
            <a:r>
              <a:rPr lang="en-US" sz="3482">
                <a:solidFill>
                  <a:srgbClr val="003C64"/>
                </a:solidFill>
                <a:latin typeface="Poppins"/>
                <a:ea typeface="Poppins"/>
                <a:cs typeface="Poppins"/>
                <a:sym typeface="Poppins"/>
              </a:rPr>
              <a:t>Features</a:t>
            </a:r>
          </a:p>
          <a:p>
            <a:pPr algn="l" marL="751838" indent="-375919" lvl="1">
              <a:lnSpc>
                <a:spcPts val="7347"/>
              </a:lnSpc>
              <a:buFont typeface="Arial"/>
              <a:buChar char="•"/>
            </a:pPr>
            <a:r>
              <a:rPr lang="en-US" sz="3482">
                <a:solidFill>
                  <a:srgbClr val="003C64"/>
                </a:solidFill>
                <a:latin typeface="Poppins"/>
                <a:ea typeface="Poppins"/>
                <a:cs typeface="Poppins"/>
                <a:sym typeface="Poppins"/>
              </a:rPr>
              <a:t>Social benefits</a:t>
            </a:r>
          </a:p>
          <a:p>
            <a:pPr algn="l">
              <a:lnSpc>
                <a:spcPts val="7347"/>
              </a:lnSpc>
            </a:pP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F3FF"/>
        </a:solidFill>
      </p:bgPr>
    </p:bg>
    <p:spTree>
      <p:nvGrpSpPr>
        <p:cNvPr id="1" name=""/>
        <p:cNvGrpSpPr/>
        <p:nvPr/>
      </p:nvGrpSpPr>
      <p:grpSpPr>
        <a:xfrm>
          <a:off x="0" y="0"/>
          <a:ext cx="0" cy="0"/>
          <a:chOff x="0" y="0"/>
          <a:chExt cx="0" cy="0"/>
        </a:xfrm>
      </p:grpSpPr>
      <p:grpSp>
        <p:nvGrpSpPr>
          <p:cNvPr name="Group 2" id="2"/>
          <p:cNvGrpSpPr/>
          <p:nvPr/>
        </p:nvGrpSpPr>
        <p:grpSpPr>
          <a:xfrm rot="0">
            <a:off x="315642" y="1335517"/>
            <a:ext cx="5732833" cy="6317191"/>
            <a:chOff x="0" y="0"/>
            <a:chExt cx="1509882" cy="1663787"/>
          </a:xfrm>
        </p:grpSpPr>
        <p:sp>
          <p:nvSpPr>
            <p:cNvPr name="Freeform 3" id="3"/>
            <p:cNvSpPr/>
            <p:nvPr/>
          </p:nvSpPr>
          <p:spPr>
            <a:xfrm flipH="false" flipV="false" rot="0">
              <a:off x="0" y="0"/>
              <a:ext cx="1509882" cy="1663787"/>
            </a:xfrm>
            <a:custGeom>
              <a:avLst/>
              <a:gdLst/>
              <a:ahLst/>
              <a:cxnLst/>
              <a:rect r="r" b="b" t="t" l="l"/>
              <a:pathLst>
                <a:path h="1663787" w="1509882">
                  <a:moveTo>
                    <a:pt x="135045" y="0"/>
                  </a:moveTo>
                  <a:lnTo>
                    <a:pt x="1374837" y="0"/>
                  </a:lnTo>
                  <a:cubicBezTo>
                    <a:pt x="1410653" y="0"/>
                    <a:pt x="1445002" y="14228"/>
                    <a:pt x="1470328" y="39554"/>
                  </a:cubicBezTo>
                  <a:cubicBezTo>
                    <a:pt x="1495654" y="64880"/>
                    <a:pt x="1509882" y="99229"/>
                    <a:pt x="1509882" y="135045"/>
                  </a:cubicBezTo>
                  <a:lnTo>
                    <a:pt x="1509882" y="1528742"/>
                  </a:lnTo>
                  <a:cubicBezTo>
                    <a:pt x="1509882" y="1564558"/>
                    <a:pt x="1495654" y="1598907"/>
                    <a:pt x="1470328" y="1624233"/>
                  </a:cubicBezTo>
                  <a:cubicBezTo>
                    <a:pt x="1445002" y="1649559"/>
                    <a:pt x="1410653" y="1663787"/>
                    <a:pt x="1374837" y="1663787"/>
                  </a:cubicBezTo>
                  <a:lnTo>
                    <a:pt x="135045" y="1663787"/>
                  </a:lnTo>
                  <a:cubicBezTo>
                    <a:pt x="60462" y="1663787"/>
                    <a:pt x="0" y="1603325"/>
                    <a:pt x="0" y="1528742"/>
                  </a:cubicBezTo>
                  <a:lnTo>
                    <a:pt x="0" y="135045"/>
                  </a:lnTo>
                  <a:cubicBezTo>
                    <a:pt x="0" y="99229"/>
                    <a:pt x="14228" y="64880"/>
                    <a:pt x="39554" y="39554"/>
                  </a:cubicBezTo>
                  <a:cubicBezTo>
                    <a:pt x="64880" y="14228"/>
                    <a:pt x="99229" y="0"/>
                    <a:pt x="135045" y="0"/>
                  </a:cubicBezTo>
                  <a:close/>
                </a:path>
              </a:pathLst>
            </a:custGeom>
            <a:solidFill>
              <a:srgbClr val="02375A"/>
            </a:solidFill>
          </p:spPr>
        </p:sp>
        <p:sp>
          <p:nvSpPr>
            <p:cNvPr name="TextBox 4" id="4"/>
            <p:cNvSpPr txBox="true"/>
            <p:nvPr/>
          </p:nvSpPr>
          <p:spPr>
            <a:xfrm>
              <a:off x="0" y="-38100"/>
              <a:ext cx="1509882" cy="1701887"/>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84121" y="1717779"/>
            <a:ext cx="6709075" cy="6379721"/>
          </a:xfrm>
          <a:custGeom>
            <a:avLst/>
            <a:gdLst/>
            <a:ahLst/>
            <a:cxnLst/>
            <a:rect r="r" b="b" t="t" l="l"/>
            <a:pathLst>
              <a:path h="6379721" w="6709075">
                <a:moveTo>
                  <a:pt x="0" y="0"/>
                </a:moveTo>
                <a:lnTo>
                  <a:pt x="6709075" y="0"/>
                </a:lnTo>
                <a:lnTo>
                  <a:pt x="6709075" y="6379721"/>
                </a:lnTo>
                <a:lnTo>
                  <a:pt x="0" y="63797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7333786" y="2451218"/>
            <a:ext cx="3413409" cy="49498"/>
            <a:chOff x="0" y="0"/>
            <a:chExt cx="899005" cy="13037"/>
          </a:xfrm>
        </p:grpSpPr>
        <p:sp>
          <p:nvSpPr>
            <p:cNvPr name="Freeform 8" id="8"/>
            <p:cNvSpPr/>
            <p:nvPr/>
          </p:nvSpPr>
          <p:spPr>
            <a:xfrm flipH="false" flipV="false" rot="0">
              <a:off x="0" y="0"/>
              <a:ext cx="899005" cy="13037"/>
            </a:xfrm>
            <a:custGeom>
              <a:avLst/>
              <a:gdLst/>
              <a:ahLst/>
              <a:cxnLst/>
              <a:rect r="r" b="b" t="t" l="l"/>
              <a:pathLst>
                <a:path h="13037" w="899005">
                  <a:moveTo>
                    <a:pt x="6518" y="0"/>
                  </a:moveTo>
                  <a:lnTo>
                    <a:pt x="892487" y="0"/>
                  </a:lnTo>
                  <a:cubicBezTo>
                    <a:pt x="896086" y="0"/>
                    <a:pt x="899005" y="2918"/>
                    <a:pt x="899005" y="6518"/>
                  </a:cubicBezTo>
                  <a:lnTo>
                    <a:pt x="899005" y="6518"/>
                  </a:lnTo>
                  <a:cubicBezTo>
                    <a:pt x="899005" y="10118"/>
                    <a:pt x="896086" y="13037"/>
                    <a:pt x="892487" y="13037"/>
                  </a:cubicBezTo>
                  <a:lnTo>
                    <a:pt x="6518" y="13037"/>
                  </a:lnTo>
                  <a:cubicBezTo>
                    <a:pt x="2918" y="13037"/>
                    <a:pt x="0" y="10118"/>
                    <a:pt x="0" y="6518"/>
                  </a:cubicBezTo>
                  <a:lnTo>
                    <a:pt x="0" y="6518"/>
                  </a:lnTo>
                  <a:cubicBezTo>
                    <a:pt x="0" y="2918"/>
                    <a:pt x="2918" y="0"/>
                    <a:pt x="6518" y="0"/>
                  </a:cubicBezTo>
                  <a:close/>
                </a:path>
              </a:pathLst>
            </a:custGeom>
            <a:solidFill>
              <a:srgbClr val="003C64"/>
            </a:solidFill>
          </p:spPr>
        </p:sp>
        <p:sp>
          <p:nvSpPr>
            <p:cNvPr name="TextBox 9" id="9"/>
            <p:cNvSpPr txBox="true"/>
            <p:nvPr/>
          </p:nvSpPr>
          <p:spPr>
            <a:xfrm>
              <a:off x="0" y="-38100"/>
              <a:ext cx="899005" cy="51137"/>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7333786" y="1204064"/>
            <a:ext cx="4361156" cy="1122680"/>
          </a:xfrm>
          <a:prstGeom prst="rect">
            <a:avLst/>
          </a:prstGeom>
        </p:spPr>
        <p:txBody>
          <a:bodyPr anchor="t" rtlCol="false" tIns="0" lIns="0" bIns="0" rIns="0">
            <a:spAutoFit/>
          </a:bodyPr>
          <a:lstStyle/>
          <a:p>
            <a:pPr algn="l">
              <a:lnSpc>
                <a:spcPts val="8560"/>
              </a:lnSpc>
            </a:pPr>
            <a:r>
              <a:rPr lang="en-US" b="true" sz="8000">
                <a:solidFill>
                  <a:srgbClr val="02375A"/>
                </a:solidFill>
                <a:latin typeface="Antonio Bold"/>
                <a:ea typeface="Antonio Bold"/>
                <a:cs typeface="Antonio Bold"/>
                <a:sym typeface="Antonio Bold"/>
              </a:rPr>
              <a:t>ABOUT US</a:t>
            </a:r>
          </a:p>
        </p:txBody>
      </p:sp>
      <p:sp>
        <p:nvSpPr>
          <p:cNvPr name="TextBox 11" id="11"/>
          <p:cNvSpPr txBox="true"/>
          <p:nvPr/>
        </p:nvSpPr>
        <p:spPr>
          <a:xfrm rot="0">
            <a:off x="7293196" y="3396047"/>
            <a:ext cx="9738424" cy="2504721"/>
          </a:xfrm>
          <a:prstGeom prst="rect">
            <a:avLst/>
          </a:prstGeom>
        </p:spPr>
        <p:txBody>
          <a:bodyPr anchor="t" rtlCol="false" tIns="0" lIns="0" bIns="0" rIns="0">
            <a:spAutoFit/>
          </a:bodyPr>
          <a:lstStyle/>
          <a:p>
            <a:pPr algn="just">
              <a:lnSpc>
                <a:spcPts val="3980"/>
              </a:lnSpc>
            </a:pPr>
            <a:r>
              <a:rPr lang="en-US" sz="2842">
                <a:solidFill>
                  <a:srgbClr val="003C64"/>
                </a:solidFill>
                <a:latin typeface="Poppins"/>
                <a:ea typeface="Poppins"/>
                <a:cs typeface="Poppins"/>
                <a:sym typeface="Poppins"/>
              </a:rPr>
              <a:t>Welcome to SerenBlue, your one-stop solution for all your healthcare needs. Our platform is dedicated to connecting you with the best healthcare providers and services , ensuring you receive the care you deserve when you need it the most.</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F3FF"/>
        </a:solidFill>
      </p:bgPr>
    </p:bg>
    <p:spTree>
      <p:nvGrpSpPr>
        <p:cNvPr id="1" name=""/>
        <p:cNvGrpSpPr/>
        <p:nvPr/>
      </p:nvGrpSpPr>
      <p:grpSpPr>
        <a:xfrm>
          <a:off x="0" y="0"/>
          <a:ext cx="0" cy="0"/>
          <a:chOff x="0" y="0"/>
          <a:chExt cx="0" cy="0"/>
        </a:xfrm>
      </p:grpSpPr>
      <p:grpSp>
        <p:nvGrpSpPr>
          <p:cNvPr name="Group 2" id="2"/>
          <p:cNvGrpSpPr/>
          <p:nvPr/>
        </p:nvGrpSpPr>
        <p:grpSpPr>
          <a:xfrm rot="0">
            <a:off x="515387" y="2420582"/>
            <a:ext cx="7421816" cy="6198638"/>
            <a:chOff x="0" y="0"/>
            <a:chExt cx="1954717" cy="1632563"/>
          </a:xfrm>
        </p:grpSpPr>
        <p:sp>
          <p:nvSpPr>
            <p:cNvPr name="Freeform 3" id="3"/>
            <p:cNvSpPr/>
            <p:nvPr/>
          </p:nvSpPr>
          <p:spPr>
            <a:xfrm flipH="false" flipV="false" rot="0">
              <a:off x="0" y="0"/>
              <a:ext cx="1954717" cy="1632563"/>
            </a:xfrm>
            <a:custGeom>
              <a:avLst/>
              <a:gdLst/>
              <a:ahLst/>
              <a:cxnLst/>
              <a:rect r="r" b="b" t="t" l="l"/>
              <a:pathLst>
                <a:path h="1632563" w="1954717">
                  <a:moveTo>
                    <a:pt x="104313" y="0"/>
                  </a:moveTo>
                  <a:lnTo>
                    <a:pt x="1850404" y="0"/>
                  </a:lnTo>
                  <a:cubicBezTo>
                    <a:pt x="1878069" y="0"/>
                    <a:pt x="1904602" y="10990"/>
                    <a:pt x="1924164" y="30553"/>
                  </a:cubicBezTo>
                  <a:cubicBezTo>
                    <a:pt x="1943727" y="50115"/>
                    <a:pt x="1954717" y="76647"/>
                    <a:pt x="1954717" y="104313"/>
                  </a:cubicBezTo>
                  <a:lnTo>
                    <a:pt x="1954717" y="1528250"/>
                  </a:lnTo>
                  <a:cubicBezTo>
                    <a:pt x="1954717" y="1555916"/>
                    <a:pt x="1943727" y="1582448"/>
                    <a:pt x="1924164" y="1602011"/>
                  </a:cubicBezTo>
                  <a:cubicBezTo>
                    <a:pt x="1904602" y="1621573"/>
                    <a:pt x="1878069" y="1632563"/>
                    <a:pt x="1850404" y="1632563"/>
                  </a:cubicBezTo>
                  <a:lnTo>
                    <a:pt x="104313" y="1632563"/>
                  </a:lnTo>
                  <a:cubicBezTo>
                    <a:pt x="46703" y="1632563"/>
                    <a:pt x="0" y="1585861"/>
                    <a:pt x="0" y="1528250"/>
                  </a:cubicBezTo>
                  <a:lnTo>
                    <a:pt x="0" y="104313"/>
                  </a:lnTo>
                  <a:cubicBezTo>
                    <a:pt x="0" y="76647"/>
                    <a:pt x="10990" y="50115"/>
                    <a:pt x="30553" y="30553"/>
                  </a:cubicBezTo>
                  <a:cubicBezTo>
                    <a:pt x="50115" y="10990"/>
                    <a:pt x="76647" y="0"/>
                    <a:pt x="104313" y="0"/>
                  </a:cubicBezTo>
                  <a:close/>
                </a:path>
              </a:pathLst>
            </a:custGeom>
            <a:solidFill>
              <a:srgbClr val="02375A"/>
            </a:solidFill>
          </p:spPr>
        </p:sp>
        <p:sp>
          <p:nvSpPr>
            <p:cNvPr name="TextBox 4" id="4"/>
            <p:cNvSpPr txBox="true"/>
            <p:nvPr/>
          </p:nvSpPr>
          <p:spPr>
            <a:xfrm>
              <a:off x="0" y="-38100"/>
              <a:ext cx="1954717" cy="167066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2230082"/>
            <a:ext cx="5188120" cy="47625"/>
            <a:chOff x="0" y="0"/>
            <a:chExt cx="1366418" cy="12543"/>
          </a:xfrm>
        </p:grpSpPr>
        <p:sp>
          <p:nvSpPr>
            <p:cNvPr name="Freeform 7" id="7"/>
            <p:cNvSpPr/>
            <p:nvPr/>
          </p:nvSpPr>
          <p:spPr>
            <a:xfrm flipH="false" flipV="false" rot="0">
              <a:off x="0" y="0"/>
              <a:ext cx="1366418" cy="12543"/>
            </a:xfrm>
            <a:custGeom>
              <a:avLst/>
              <a:gdLst/>
              <a:ahLst/>
              <a:cxnLst/>
              <a:rect r="r" b="b" t="t" l="l"/>
              <a:pathLst>
                <a:path h="12543" w="1366418">
                  <a:moveTo>
                    <a:pt x="6272" y="0"/>
                  </a:moveTo>
                  <a:lnTo>
                    <a:pt x="1360147" y="0"/>
                  </a:lnTo>
                  <a:cubicBezTo>
                    <a:pt x="1361810" y="0"/>
                    <a:pt x="1363405" y="661"/>
                    <a:pt x="1364581" y="1837"/>
                  </a:cubicBezTo>
                  <a:cubicBezTo>
                    <a:pt x="1365758" y="3013"/>
                    <a:pt x="1366418" y="4608"/>
                    <a:pt x="1366418" y="6272"/>
                  </a:cubicBezTo>
                  <a:lnTo>
                    <a:pt x="1366418" y="6272"/>
                  </a:lnTo>
                  <a:cubicBezTo>
                    <a:pt x="1366418" y="7935"/>
                    <a:pt x="1365758" y="9530"/>
                    <a:pt x="1364581" y="10706"/>
                  </a:cubicBezTo>
                  <a:cubicBezTo>
                    <a:pt x="1363405" y="11882"/>
                    <a:pt x="1361810" y="12543"/>
                    <a:pt x="1360147"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034172"/>
            </a:solidFill>
          </p:spPr>
        </p:sp>
        <p:sp>
          <p:nvSpPr>
            <p:cNvPr name="TextBox 8" id="8"/>
            <p:cNvSpPr txBox="true"/>
            <p:nvPr/>
          </p:nvSpPr>
          <p:spPr>
            <a:xfrm>
              <a:off x="0" y="-38100"/>
              <a:ext cx="1366418" cy="5064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508969" y="2786713"/>
            <a:ext cx="5185973" cy="5538418"/>
          </a:xfrm>
          <a:custGeom>
            <a:avLst/>
            <a:gdLst/>
            <a:ahLst/>
            <a:cxnLst/>
            <a:rect r="r" b="b" t="t" l="l"/>
            <a:pathLst>
              <a:path h="5538418" w="5185973">
                <a:moveTo>
                  <a:pt x="0" y="0"/>
                </a:moveTo>
                <a:lnTo>
                  <a:pt x="5185973" y="0"/>
                </a:lnTo>
                <a:lnTo>
                  <a:pt x="5185973" y="5538418"/>
                </a:lnTo>
                <a:lnTo>
                  <a:pt x="0" y="5538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6552" y="1410007"/>
            <a:ext cx="5837127" cy="669699"/>
          </a:xfrm>
          <a:prstGeom prst="rect">
            <a:avLst/>
          </a:prstGeom>
        </p:spPr>
        <p:txBody>
          <a:bodyPr anchor="t" rtlCol="false" tIns="0" lIns="0" bIns="0" rIns="0">
            <a:spAutoFit/>
          </a:bodyPr>
          <a:lstStyle/>
          <a:p>
            <a:pPr algn="l">
              <a:lnSpc>
                <a:spcPts val="5129"/>
              </a:lnSpc>
            </a:pPr>
            <a:r>
              <a:rPr lang="en-US" b="true" sz="4794">
                <a:solidFill>
                  <a:srgbClr val="003C64"/>
                </a:solidFill>
                <a:latin typeface="Antonio Bold"/>
                <a:ea typeface="Antonio Bold"/>
                <a:cs typeface="Antonio Bold"/>
                <a:sym typeface="Antonio Bold"/>
              </a:rPr>
              <a:t>OUR VISION  &amp; MISSION</a:t>
            </a:r>
          </a:p>
        </p:txBody>
      </p:sp>
      <p:sp>
        <p:nvSpPr>
          <p:cNvPr name="TextBox 11" id="11"/>
          <p:cNvSpPr txBox="true"/>
          <p:nvPr/>
        </p:nvSpPr>
        <p:spPr>
          <a:xfrm rot="0">
            <a:off x="1056263" y="3119620"/>
            <a:ext cx="4898142" cy="4365625"/>
          </a:xfrm>
          <a:prstGeom prst="rect">
            <a:avLst/>
          </a:prstGeom>
        </p:spPr>
        <p:txBody>
          <a:bodyPr anchor="t" rtlCol="false" tIns="0" lIns="0" bIns="0" rIns="0">
            <a:spAutoFit/>
          </a:bodyPr>
          <a:lstStyle/>
          <a:p>
            <a:pPr algn="just">
              <a:lnSpc>
                <a:spcPts val="3499"/>
              </a:lnSpc>
            </a:pPr>
            <a:r>
              <a:rPr lang="en-US" sz="2499">
                <a:solidFill>
                  <a:srgbClr val="FFFFFF"/>
                </a:solidFill>
                <a:latin typeface="Lato"/>
                <a:ea typeface="Lato"/>
                <a:cs typeface="Lato"/>
                <a:sym typeface="Lato"/>
              </a:rPr>
              <a:t>Our vision is to revolutionize healthcare access by creating a seamless, accessible, and comprehensive platform for all healthcare needs. We aspire to be the leading digital healthcare hub, empowering individuals to take control of their health and well-being through innovative solutions and personalized care.</a:t>
            </a:r>
          </a:p>
        </p:txBody>
      </p:sp>
      <p:sp>
        <p:nvSpPr>
          <p:cNvPr name="TextBox 12" id="12"/>
          <p:cNvSpPr txBox="true"/>
          <p:nvPr/>
        </p:nvSpPr>
        <p:spPr>
          <a:xfrm rot="0">
            <a:off x="11935442" y="3119620"/>
            <a:ext cx="5594062" cy="4000135"/>
          </a:xfrm>
          <a:prstGeom prst="rect">
            <a:avLst/>
          </a:prstGeom>
        </p:spPr>
        <p:txBody>
          <a:bodyPr anchor="t" rtlCol="false" tIns="0" lIns="0" bIns="0" rIns="0">
            <a:spAutoFit/>
          </a:bodyPr>
          <a:lstStyle/>
          <a:p>
            <a:pPr algn="just">
              <a:lnSpc>
                <a:spcPts val="3565"/>
              </a:lnSpc>
            </a:pPr>
            <a:r>
              <a:rPr lang="en-US" sz="2546">
                <a:solidFill>
                  <a:srgbClr val="003C64"/>
                </a:solidFill>
                <a:latin typeface="Lato"/>
                <a:ea typeface="Lato"/>
                <a:cs typeface="Lato"/>
                <a:sym typeface="Lato"/>
              </a:rPr>
              <a:t>Our mission at is to simplify and enhance the healthcare experience by offering reliable, convenient, and comprehensive healthcare services. We are committed to ensuring that everyone has access to trusted healthcare professionals and services, making healthcare easier and more efficient for all.</a:t>
            </a:r>
          </a:p>
        </p:txBody>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2375A"/>
        </a:solidFill>
      </p:bgPr>
    </p:bg>
    <p:spTree>
      <p:nvGrpSpPr>
        <p:cNvPr id="1" name=""/>
        <p:cNvGrpSpPr/>
        <p:nvPr/>
      </p:nvGrpSpPr>
      <p:grpSpPr>
        <a:xfrm>
          <a:off x="0" y="0"/>
          <a:ext cx="0" cy="0"/>
          <a:chOff x="0" y="0"/>
          <a:chExt cx="0" cy="0"/>
        </a:xfrm>
      </p:grpSpPr>
      <p:grpSp>
        <p:nvGrpSpPr>
          <p:cNvPr name="Group 2" id="2"/>
          <p:cNvGrpSpPr/>
          <p:nvPr/>
        </p:nvGrpSpPr>
        <p:grpSpPr>
          <a:xfrm rot="0">
            <a:off x="600555" y="289083"/>
            <a:ext cx="11781990" cy="8969217"/>
            <a:chOff x="0" y="0"/>
            <a:chExt cx="3103075" cy="2362263"/>
          </a:xfrm>
        </p:grpSpPr>
        <p:sp>
          <p:nvSpPr>
            <p:cNvPr name="Freeform 3" id="3"/>
            <p:cNvSpPr/>
            <p:nvPr/>
          </p:nvSpPr>
          <p:spPr>
            <a:xfrm flipH="false" flipV="false" rot="0">
              <a:off x="0" y="0"/>
              <a:ext cx="3103076" cy="2362263"/>
            </a:xfrm>
            <a:custGeom>
              <a:avLst/>
              <a:gdLst/>
              <a:ahLst/>
              <a:cxnLst/>
              <a:rect r="r" b="b" t="t" l="l"/>
              <a:pathLst>
                <a:path h="2362263" w="3103076">
                  <a:moveTo>
                    <a:pt x="65710" y="0"/>
                  </a:moveTo>
                  <a:lnTo>
                    <a:pt x="3037366" y="0"/>
                  </a:lnTo>
                  <a:cubicBezTo>
                    <a:pt x="3073656" y="0"/>
                    <a:pt x="3103076" y="29419"/>
                    <a:pt x="3103076" y="65710"/>
                  </a:cubicBezTo>
                  <a:lnTo>
                    <a:pt x="3103076" y="2296553"/>
                  </a:lnTo>
                  <a:cubicBezTo>
                    <a:pt x="3103076" y="2332844"/>
                    <a:pt x="3073656" y="2362263"/>
                    <a:pt x="3037366" y="2362263"/>
                  </a:cubicBezTo>
                  <a:lnTo>
                    <a:pt x="65710" y="2362263"/>
                  </a:lnTo>
                  <a:cubicBezTo>
                    <a:pt x="29419" y="2362263"/>
                    <a:pt x="0" y="2332844"/>
                    <a:pt x="0" y="2296553"/>
                  </a:cubicBezTo>
                  <a:lnTo>
                    <a:pt x="0" y="65710"/>
                  </a:lnTo>
                  <a:cubicBezTo>
                    <a:pt x="0" y="29419"/>
                    <a:pt x="29419" y="0"/>
                    <a:pt x="65710" y="0"/>
                  </a:cubicBezTo>
                  <a:close/>
                </a:path>
              </a:pathLst>
            </a:custGeom>
            <a:solidFill>
              <a:srgbClr val="E9F3FF"/>
            </a:solidFill>
          </p:spPr>
        </p:sp>
        <p:sp>
          <p:nvSpPr>
            <p:cNvPr name="TextBox 4" id="4"/>
            <p:cNvSpPr txBox="true"/>
            <p:nvPr/>
          </p:nvSpPr>
          <p:spPr>
            <a:xfrm>
              <a:off x="0" y="-38100"/>
              <a:ext cx="3103075" cy="240036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0214" y="1420310"/>
            <a:ext cx="3107779" cy="58517"/>
            <a:chOff x="0" y="0"/>
            <a:chExt cx="818510" cy="15412"/>
          </a:xfrm>
        </p:grpSpPr>
        <p:sp>
          <p:nvSpPr>
            <p:cNvPr name="Freeform 6" id="6"/>
            <p:cNvSpPr/>
            <p:nvPr/>
          </p:nvSpPr>
          <p:spPr>
            <a:xfrm flipH="false" flipV="false" rot="0">
              <a:off x="0" y="0"/>
              <a:ext cx="818510" cy="15412"/>
            </a:xfrm>
            <a:custGeom>
              <a:avLst/>
              <a:gdLst/>
              <a:ahLst/>
              <a:cxnLst/>
              <a:rect r="r" b="b" t="t" l="l"/>
              <a:pathLst>
                <a:path h="15412" w="818510">
                  <a:moveTo>
                    <a:pt x="7706" y="0"/>
                  </a:moveTo>
                  <a:lnTo>
                    <a:pt x="810804" y="0"/>
                  </a:lnTo>
                  <a:cubicBezTo>
                    <a:pt x="812848" y="0"/>
                    <a:pt x="814808" y="812"/>
                    <a:pt x="816253" y="2257"/>
                  </a:cubicBezTo>
                  <a:cubicBezTo>
                    <a:pt x="817698" y="3702"/>
                    <a:pt x="818510" y="5662"/>
                    <a:pt x="818510" y="7706"/>
                  </a:cubicBezTo>
                  <a:lnTo>
                    <a:pt x="818510" y="7706"/>
                  </a:lnTo>
                  <a:cubicBezTo>
                    <a:pt x="818510" y="11962"/>
                    <a:pt x="815060" y="15412"/>
                    <a:pt x="810804" y="15412"/>
                  </a:cubicBezTo>
                  <a:lnTo>
                    <a:pt x="7706" y="15412"/>
                  </a:lnTo>
                  <a:cubicBezTo>
                    <a:pt x="5662" y="15412"/>
                    <a:pt x="3702" y="14600"/>
                    <a:pt x="2257" y="13155"/>
                  </a:cubicBezTo>
                  <a:cubicBezTo>
                    <a:pt x="812" y="11710"/>
                    <a:pt x="0" y="9750"/>
                    <a:pt x="0" y="7706"/>
                  </a:cubicBezTo>
                  <a:lnTo>
                    <a:pt x="0" y="7706"/>
                  </a:lnTo>
                  <a:cubicBezTo>
                    <a:pt x="0" y="5662"/>
                    <a:pt x="812" y="3702"/>
                    <a:pt x="2257" y="2257"/>
                  </a:cubicBezTo>
                  <a:cubicBezTo>
                    <a:pt x="3702" y="812"/>
                    <a:pt x="5662" y="0"/>
                    <a:pt x="7706" y="0"/>
                  </a:cubicBezTo>
                  <a:close/>
                </a:path>
              </a:pathLst>
            </a:custGeom>
            <a:solidFill>
              <a:srgbClr val="003C64"/>
            </a:solidFill>
          </p:spPr>
        </p:sp>
        <p:sp>
          <p:nvSpPr>
            <p:cNvPr name="TextBox 7" id="7"/>
            <p:cNvSpPr txBox="true"/>
            <p:nvPr/>
          </p:nvSpPr>
          <p:spPr>
            <a:xfrm>
              <a:off x="0" y="-38100"/>
              <a:ext cx="818510" cy="5351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110673" y="1936027"/>
            <a:ext cx="7106349" cy="6899619"/>
          </a:xfrm>
          <a:custGeom>
            <a:avLst/>
            <a:gdLst/>
            <a:ahLst/>
            <a:cxnLst/>
            <a:rect r="r" b="b" t="t" l="l"/>
            <a:pathLst>
              <a:path h="6899619" w="7106349">
                <a:moveTo>
                  <a:pt x="0" y="0"/>
                </a:moveTo>
                <a:lnTo>
                  <a:pt x="7106350" y="0"/>
                </a:lnTo>
                <a:lnTo>
                  <a:pt x="7106350" y="6899619"/>
                </a:lnTo>
                <a:lnTo>
                  <a:pt x="0" y="68996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930385" y="5530092"/>
            <a:ext cx="3059140" cy="3305554"/>
          </a:xfrm>
          <a:custGeom>
            <a:avLst/>
            <a:gdLst/>
            <a:ahLst/>
            <a:cxnLst/>
            <a:rect r="r" b="b" t="t" l="l"/>
            <a:pathLst>
              <a:path h="3305554" w="3059140">
                <a:moveTo>
                  <a:pt x="0" y="0"/>
                </a:moveTo>
                <a:lnTo>
                  <a:pt x="3059140" y="0"/>
                </a:lnTo>
                <a:lnTo>
                  <a:pt x="3059140" y="3305554"/>
                </a:lnTo>
                <a:lnTo>
                  <a:pt x="0" y="3305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970214" y="762018"/>
            <a:ext cx="3303711" cy="658292"/>
          </a:xfrm>
          <a:prstGeom prst="rect">
            <a:avLst/>
          </a:prstGeom>
        </p:spPr>
        <p:txBody>
          <a:bodyPr anchor="t" rtlCol="false" tIns="0" lIns="0" bIns="0" rIns="0">
            <a:spAutoFit/>
          </a:bodyPr>
          <a:lstStyle/>
          <a:p>
            <a:pPr algn="l">
              <a:lnSpc>
                <a:spcPts val="5007"/>
              </a:lnSpc>
            </a:pPr>
            <a:r>
              <a:rPr lang="en-US" b="true" sz="4680">
                <a:solidFill>
                  <a:srgbClr val="02375A"/>
                </a:solidFill>
                <a:latin typeface="Antonio Bold"/>
                <a:ea typeface="Antonio Bold"/>
                <a:cs typeface="Antonio Bold"/>
                <a:sym typeface="Antonio Bold"/>
              </a:rPr>
              <a:t>OUR SERVICES</a:t>
            </a:r>
          </a:p>
        </p:txBody>
      </p:sp>
      <p:sp>
        <p:nvSpPr>
          <p:cNvPr name="Freeform 11" id="11"/>
          <p:cNvSpPr/>
          <p:nvPr/>
        </p:nvSpPr>
        <p:spPr>
          <a:xfrm flipH="false" flipV="false" rot="0">
            <a:off x="6240044" y="5530092"/>
            <a:ext cx="3059140" cy="3305554"/>
          </a:xfrm>
          <a:custGeom>
            <a:avLst/>
            <a:gdLst/>
            <a:ahLst/>
            <a:cxnLst/>
            <a:rect r="r" b="b" t="t" l="l"/>
            <a:pathLst>
              <a:path h="3305554" w="3059140">
                <a:moveTo>
                  <a:pt x="0" y="0"/>
                </a:moveTo>
                <a:lnTo>
                  <a:pt x="3059140" y="0"/>
                </a:lnTo>
                <a:lnTo>
                  <a:pt x="3059140" y="3305554"/>
                </a:lnTo>
                <a:lnTo>
                  <a:pt x="0" y="3305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051533" y="1936027"/>
            <a:ext cx="3059140" cy="3305554"/>
          </a:xfrm>
          <a:custGeom>
            <a:avLst/>
            <a:gdLst/>
            <a:ahLst/>
            <a:cxnLst/>
            <a:rect r="r" b="b" t="t" l="l"/>
            <a:pathLst>
              <a:path h="3305554" w="3059140">
                <a:moveTo>
                  <a:pt x="0" y="0"/>
                </a:moveTo>
                <a:lnTo>
                  <a:pt x="3059140" y="0"/>
                </a:lnTo>
                <a:lnTo>
                  <a:pt x="3059140" y="3305554"/>
                </a:lnTo>
                <a:lnTo>
                  <a:pt x="0" y="3305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266504" y="1936027"/>
            <a:ext cx="3059140" cy="3305554"/>
          </a:xfrm>
          <a:custGeom>
            <a:avLst/>
            <a:gdLst/>
            <a:ahLst/>
            <a:cxnLst/>
            <a:rect r="r" b="b" t="t" l="l"/>
            <a:pathLst>
              <a:path h="3305554" w="3059140">
                <a:moveTo>
                  <a:pt x="0" y="0"/>
                </a:moveTo>
                <a:lnTo>
                  <a:pt x="3059140" y="0"/>
                </a:lnTo>
                <a:lnTo>
                  <a:pt x="3059140" y="3305554"/>
                </a:lnTo>
                <a:lnTo>
                  <a:pt x="0" y="3305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4659019" y="1936027"/>
            <a:ext cx="3059140" cy="3305554"/>
          </a:xfrm>
          <a:custGeom>
            <a:avLst/>
            <a:gdLst/>
            <a:ahLst/>
            <a:cxnLst/>
            <a:rect r="r" b="b" t="t" l="l"/>
            <a:pathLst>
              <a:path h="3305554" w="3059140">
                <a:moveTo>
                  <a:pt x="0" y="0"/>
                </a:moveTo>
                <a:lnTo>
                  <a:pt x="3059139" y="0"/>
                </a:lnTo>
                <a:lnTo>
                  <a:pt x="3059139" y="3305554"/>
                </a:lnTo>
                <a:lnTo>
                  <a:pt x="0" y="3305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455842" y="2492846"/>
            <a:ext cx="2622152" cy="2107942"/>
          </a:xfrm>
          <a:prstGeom prst="rect">
            <a:avLst/>
          </a:prstGeom>
        </p:spPr>
        <p:txBody>
          <a:bodyPr anchor="t" rtlCol="false" tIns="0" lIns="0" bIns="0" rIns="0">
            <a:spAutoFit/>
          </a:bodyPr>
          <a:lstStyle/>
          <a:p>
            <a:pPr algn="just" marL="370212" indent="-185106" lvl="1">
              <a:lnSpc>
                <a:spcPts val="2400"/>
              </a:lnSpc>
              <a:buFont typeface="Arial"/>
              <a:buChar char="•"/>
            </a:pPr>
            <a:r>
              <a:rPr lang="en-US" sz="1714">
                <a:solidFill>
                  <a:srgbClr val="034172"/>
                </a:solidFill>
                <a:latin typeface="Poppins"/>
                <a:ea typeface="Poppins"/>
                <a:cs typeface="Poppins"/>
                <a:sym typeface="Poppins"/>
              </a:rPr>
              <a:t>Access certified doctors.</a:t>
            </a:r>
          </a:p>
          <a:p>
            <a:pPr algn="just" marL="370212" indent="-185106" lvl="1">
              <a:lnSpc>
                <a:spcPts val="2400"/>
              </a:lnSpc>
              <a:buFont typeface="Arial"/>
              <a:buChar char="•"/>
            </a:pPr>
            <a:r>
              <a:rPr lang="en-US" sz="1714">
                <a:solidFill>
                  <a:srgbClr val="034172"/>
                </a:solidFill>
                <a:latin typeface="Poppins"/>
                <a:ea typeface="Poppins"/>
                <a:cs typeface="Poppins"/>
                <a:sym typeface="Poppins"/>
              </a:rPr>
              <a:t>Filter by speciality and book appointments instantly with a few clicks.</a:t>
            </a:r>
          </a:p>
        </p:txBody>
      </p:sp>
      <p:sp>
        <p:nvSpPr>
          <p:cNvPr name="TextBox 16" id="16"/>
          <p:cNvSpPr txBox="true"/>
          <p:nvPr/>
        </p:nvSpPr>
        <p:spPr>
          <a:xfrm rot="0">
            <a:off x="1321665" y="1949668"/>
            <a:ext cx="3065902" cy="451685"/>
          </a:xfrm>
          <a:prstGeom prst="rect">
            <a:avLst/>
          </a:prstGeom>
        </p:spPr>
        <p:txBody>
          <a:bodyPr anchor="t" rtlCol="false" tIns="0" lIns="0" bIns="0" rIns="0">
            <a:spAutoFit/>
          </a:bodyPr>
          <a:lstStyle/>
          <a:p>
            <a:pPr algn="ctr">
              <a:lnSpc>
                <a:spcPts val="3453"/>
              </a:lnSpc>
            </a:pPr>
            <a:r>
              <a:rPr lang="en-US" b="true" sz="2467" u="sng">
                <a:solidFill>
                  <a:srgbClr val="02375A"/>
                </a:solidFill>
                <a:latin typeface="Poppins Bold"/>
                <a:ea typeface="Poppins Bold"/>
                <a:cs typeface="Poppins Bold"/>
                <a:sym typeface="Poppins Bold"/>
              </a:rPr>
              <a:t>FInd Doctor</a:t>
            </a:r>
          </a:p>
        </p:txBody>
      </p:sp>
      <p:sp>
        <p:nvSpPr>
          <p:cNvPr name="TextBox 17" id="17"/>
          <p:cNvSpPr txBox="true"/>
          <p:nvPr/>
        </p:nvSpPr>
        <p:spPr>
          <a:xfrm rot="0">
            <a:off x="8301946" y="2431744"/>
            <a:ext cx="2500386" cy="2249196"/>
          </a:xfrm>
          <a:prstGeom prst="rect">
            <a:avLst/>
          </a:prstGeom>
        </p:spPr>
        <p:txBody>
          <a:bodyPr anchor="t" rtlCol="false" tIns="0" lIns="0" bIns="0" rIns="0">
            <a:spAutoFit/>
          </a:bodyPr>
          <a:lstStyle/>
          <a:p>
            <a:pPr algn="just" marL="348445" indent="-174223" lvl="1">
              <a:lnSpc>
                <a:spcPts val="2259"/>
              </a:lnSpc>
              <a:buFont typeface="Arial"/>
              <a:buChar char="•"/>
            </a:pPr>
            <a:r>
              <a:rPr lang="en-US" sz="1613">
                <a:solidFill>
                  <a:srgbClr val="02375A"/>
                </a:solidFill>
                <a:latin typeface="Poppins"/>
                <a:ea typeface="Poppins"/>
                <a:cs typeface="Poppins"/>
                <a:sym typeface="Poppins"/>
              </a:rPr>
              <a:t>Schedule regular health checkups and screenings.</a:t>
            </a:r>
          </a:p>
          <a:p>
            <a:pPr algn="just" marL="348445" indent="-174223" lvl="1">
              <a:lnSpc>
                <a:spcPts val="2259"/>
              </a:lnSpc>
              <a:buFont typeface="Arial"/>
              <a:buChar char="•"/>
            </a:pPr>
            <a:r>
              <a:rPr lang="en-US" sz="1613">
                <a:solidFill>
                  <a:srgbClr val="02375A"/>
                </a:solidFill>
                <a:latin typeface="Poppins"/>
                <a:ea typeface="Poppins"/>
                <a:cs typeface="Poppins"/>
                <a:sym typeface="Poppins"/>
              </a:rPr>
              <a:t>Choose from various health packages tailored to your needs.</a:t>
            </a:r>
          </a:p>
          <a:p>
            <a:pPr algn="just">
              <a:lnSpc>
                <a:spcPts val="2259"/>
              </a:lnSpc>
            </a:pPr>
          </a:p>
        </p:txBody>
      </p:sp>
      <p:sp>
        <p:nvSpPr>
          <p:cNvPr name="TextBox 18" id="18"/>
          <p:cNvSpPr txBox="true"/>
          <p:nvPr/>
        </p:nvSpPr>
        <p:spPr>
          <a:xfrm rot="0">
            <a:off x="3590882" y="5632106"/>
            <a:ext cx="1593369" cy="434016"/>
          </a:xfrm>
          <a:prstGeom prst="rect">
            <a:avLst/>
          </a:prstGeom>
        </p:spPr>
        <p:txBody>
          <a:bodyPr anchor="t" rtlCol="false" tIns="0" lIns="0" bIns="0" rIns="0">
            <a:spAutoFit/>
          </a:bodyPr>
          <a:lstStyle/>
          <a:p>
            <a:pPr algn="just">
              <a:lnSpc>
                <a:spcPts val="3377"/>
              </a:lnSpc>
            </a:pPr>
            <a:r>
              <a:rPr lang="en-US" b="true" sz="2412" u="sng">
                <a:solidFill>
                  <a:srgbClr val="02375A"/>
                </a:solidFill>
                <a:latin typeface="Poppins Bold"/>
                <a:ea typeface="Poppins Bold"/>
                <a:cs typeface="Poppins Bold"/>
                <a:sym typeface="Poppins Bold"/>
              </a:rPr>
              <a:t>Review</a:t>
            </a:r>
          </a:p>
        </p:txBody>
      </p:sp>
      <p:sp>
        <p:nvSpPr>
          <p:cNvPr name="TextBox 19" id="19"/>
          <p:cNvSpPr txBox="true"/>
          <p:nvPr/>
        </p:nvSpPr>
        <p:spPr>
          <a:xfrm rot="0">
            <a:off x="7302306" y="5632106"/>
            <a:ext cx="1158803" cy="441904"/>
          </a:xfrm>
          <a:prstGeom prst="rect">
            <a:avLst/>
          </a:prstGeom>
        </p:spPr>
        <p:txBody>
          <a:bodyPr anchor="t" rtlCol="false" tIns="0" lIns="0" bIns="0" rIns="0">
            <a:spAutoFit/>
          </a:bodyPr>
          <a:lstStyle/>
          <a:p>
            <a:pPr algn="just">
              <a:lnSpc>
                <a:spcPts val="3468"/>
              </a:lnSpc>
            </a:pPr>
            <a:r>
              <a:rPr lang="en-US" b="true" sz="2477" u="sng">
                <a:solidFill>
                  <a:srgbClr val="02375A"/>
                </a:solidFill>
                <a:latin typeface="Poppins Bold"/>
                <a:ea typeface="Poppins Bold"/>
                <a:cs typeface="Poppins Bold"/>
                <a:sym typeface="Poppins Bold"/>
              </a:rPr>
              <a:t>FAQ</a:t>
            </a:r>
          </a:p>
        </p:txBody>
      </p:sp>
      <p:sp>
        <p:nvSpPr>
          <p:cNvPr name="TextBox 20" id="20"/>
          <p:cNvSpPr txBox="true"/>
          <p:nvPr/>
        </p:nvSpPr>
        <p:spPr>
          <a:xfrm rot="0">
            <a:off x="4911566" y="2002635"/>
            <a:ext cx="2656955" cy="374318"/>
          </a:xfrm>
          <a:prstGeom prst="rect">
            <a:avLst/>
          </a:prstGeom>
        </p:spPr>
        <p:txBody>
          <a:bodyPr anchor="t" rtlCol="false" tIns="0" lIns="0" bIns="0" rIns="0">
            <a:spAutoFit/>
          </a:bodyPr>
          <a:lstStyle/>
          <a:p>
            <a:pPr algn="just">
              <a:lnSpc>
                <a:spcPts val="2993"/>
              </a:lnSpc>
            </a:pPr>
            <a:r>
              <a:rPr lang="en-US" b="true" sz="2138" u="sng">
                <a:solidFill>
                  <a:srgbClr val="003C64"/>
                </a:solidFill>
                <a:latin typeface="Poppins Bold"/>
                <a:ea typeface="Poppins Bold"/>
                <a:cs typeface="Poppins Bold"/>
                <a:sym typeface="Poppins Bold"/>
              </a:rPr>
              <a:t>Find Ambulance</a:t>
            </a:r>
          </a:p>
        </p:txBody>
      </p:sp>
      <p:sp>
        <p:nvSpPr>
          <p:cNvPr name="TextBox 21" id="21"/>
          <p:cNvSpPr txBox="true"/>
          <p:nvPr/>
        </p:nvSpPr>
        <p:spPr>
          <a:xfrm rot="0">
            <a:off x="4762916" y="2412694"/>
            <a:ext cx="2453218" cy="1814852"/>
          </a:xfrm>
          <a:prstGeom prst="rect">
            <a:avLst/>
          </a:prstGeom>
        </p:spPr>
        <p:txBody>
          <a:bodyPr anchor="t" rtlCol="false" tIns="0" lIns="0" bIns="0" rIns="0">
            <a:spAutoFit/>
          </a:bodyPr>
          <a:lstStyle/>
          <a:p>
            <a:pPr algn="just" marL="447699" indent="-223850" lvl="1">
              <a:lnSpc>
                <a:spcPts val="2903"/>
              </a:lnSpc>
              <a:buFont typeface="Arial"/>
              <a:buChar char="•"/>
            </a:pPr>
            <a:r>
              <a:rPr lang="en-US" sz="2073">
                <a:solidFill>
                  <a:srgbClr val="02375A"/>
                </a:solidFill>
                <a:latin typeface="Poppins"/>
                <a:ea typeface="Poppins"/>
                <a:cs typeface="Poppins"/>
                <a:sym typeface="Poppins"/>
              </a:rPr>
              <a:t>Immediate access to emergency medical transportation.</a:t>
            </a:r>
          </a:p>
        </p:txBody>
      </p:sp>
      <p:sp>
        <p:nvSpPr>
          <p:cNvPr name="TextBox 22" id="22"/>
          <p:cNvSpPr txBox="true"/>
          <p:nvPr/>
        </p:nvSpPr>
        <p:spPr>
          <a:xfrm rot="0">
            <a:off x="8461108" y="1983593"/>
            <a:ext cx="2502525" cy="393361"/>
          </a:xfrm>
          <a:prstGeom prst="rect">
            <a:avLst/>
          </a:prstGeom>
        </p:spPr>
        <p:txBody>
          <a:bodyPr anchor="t" rtlCol="false" tIns="0" lIns="0" bIns="0" rIns="0">
            <a:spAutoFit/>
          </a:bodyPr>
          <a:lstStyle/>
          <a:p>
            <a:pPr algn="just">
              <a:lnSpc>
                <a:spcPts val="3005"/>
              </a:lnSpc>
            </a:pPr>
            <a:r>
              <a:rPr lang="en-US" b="true" sz="2146" u="sng">
                <a:solidFill>
                  <a:srgbClr val="02375A"/>
                </a:solidFill>
                <a:latin typeface="Poppins Bold"/>
                <a:ea typeface="Poppins Bold"/>
                <a:cs typeface="Poppins Bold"/>
                <a:sym typeface="Poppins Bold"/>
              </a:rPr>
              <a:t>Health Checkup</a:t>
            </a:r>
          </a:p>
        </p:txBody>
      </p:sp>
      <p:sp>
        <p:nvSpPr>
          <p:cNvPr name="TextBox 23" id="23"/>
          <p:cNvSpPr txBox="true"/>
          <p:nvPr/>
        </p:nvSpPr>
        <p:spPr>
          <a:xfrm rot="0">
            <a:off x="2962050" y="6132796"/>
            <a:ext cx="2623750" cy="2514828"/>
          </a:xfrm>
          <a:prstGeom prst="rect">
            <a:avLst/>
          </a:prstGeom>
        </p:spPr>
        <p:txBody>
          <a:bodyPr anchor="t" rtlCol="false" tIns="0" lIns="0" bIns="0" rIns="0">
            <a:spAutoFit/>
          </a:bodyPr>
          <a:lstStyle/>
          <a:p>
            <a:pPr algn="just" marL="346383" indent="-173191" lvl="1">
              <a:lnSpc>
                <a:spcPts val="2246"/>
              </a:lnSpc>
              <a:buFont typeface="Arial"/>
              <a:buChar char="•"/>
            </a:pPr>
            <a:r>
              <a:rPr lang="en-US" sz="1604">
                <a:solidFill>
                  <a:srgbClr val="02375A"/>
                </a:solidFill>
                <a:latin typeface="Poppins"/>
                <a:ea typeface="Poppins"/>
                <a:cs typeface="Poppins"/>
                <a:sym typeface="Poppins"/>
              </a:rPr>
              <a:t>Read genuine reviews from other patients.</a:t>
            </a:r>
          </a:p>
          <a:p>
            <a:pPr algn="just" marL="346383" indent="-173191" lvl="1">
              <a:lnSpc>
                <a:spcPts val="2246"/>
              </a:lnSpc>
              <a:buFont typeface="Arial"/>
              <a:buChar char="•"/>
            </a:pPr>
            <a:r>
              <a:rPr lang="en-US" sz="1604">
                <a:solidFill>
                  <a:srgbClr val="02375A"/>
                </a:solidFill>
                <a:latin typeface="Poppins"/>
                <a:ea typeface="Poppins"/>
                <a:cs typeface="Poppins"/>
                <a:sym typeface="Poppins"/>
              </a:rPr>
              <a:t>Share your own experience and rate the services received.</a:t>
            </a:r>
          </a:p>
          <a:p>
            <a:pPr algn="just" marL="346383" indent="-173191" lvl="1">
              <a:lnSpc>
                <a:spcPts val="2246"/>
              </a:lnSpc>
              <a:buFont typeface="Arial"/>
              <a:buChar char="•"/>
            </a:pPr>
            <a:r>
              <a:rPr lang="en-US" sz="1604">
                <a:solidFill>
                  <a:srgbClr val="02375A"/>
                </a:solidFill>
                <a:latin typeface="Poppins"/>
                <a:ea typeface="Poppins"/>
                <a:cs typeface="Poppins"/>
                <a:sym typeface="Poppins"/>
              </a:rPr>
              <a:t>Help others make informed decisions about their healthcare.</a:t>
            </a:r>
          </a:p>
        </p:txBody>
      </p:sp>
      <p:sp>
        <p:nvSpPr>
          <p:cNvPr name="TextBox 24" id="24"/>
          <p:cNvSpPr txBox="true"/>
          <p:nvPr/>
        </p:nvSpPr>
        <p:spPr>
          <a:xfrm rot="0">
            <a:off x="6491550" y="6132796"/>
            <a:ext cx="2453218" cy="2174076"/>
          </a:xfrm>
          <a:prstGeom prst="rect">
            <a:avLst/>
          </a:prstGeom>
        </p:spPr>
        <p:txBody>
          <a:bodyPr anchor="t" rtlCol="false" tIns="0" lIns="0" bIns="0" rIns="0">
            <a:spAutoFit/>
          </a:bodyPr>
          <a:lstStyle/>
          <a:p>
            <a:pPr algn="just" marL="298543" indent="-149271" lvl="1">
              <a:lnSpc>
                <a:spcPts val="1935"/>
              </a:lnSpc>
              <a:buFont typeface="Arial"/>
              <a:buChar char="•"/>
            </a:pPr>
            <a:r>
              <a:rPr lang="en-US" sz="1382">
                <a:solidFill>
                  <a:srgbClr val="02375A"/>
                </a:solidFill>
                <a:latin typeface="Poppins"/>
                <a:ea typeface="Poppins"/>
                <a:cs typeface="Poppins"/>
                <a:sym typeface="Poppins"/>
              </a:rPr>
              <a:t>Find answers to commonly asked questions.</a:t>
            </a:r>
          </a:p>
          <a:p>
            <a:pPr algn="just" marL="298543" indent="-149271" lvl="1">
              <a:lnSpc>
                <a:spcPts val="1935"/>
              </a:lnSpc>
              <a:buFont typeface="Arial"/>
              <a:buChar char="•"/>
            </a:pPr>
            <a:r>
              <a:rPr lang="en-US" sz="1382">
                <a:solidFill>
                  <a:srgbClr val="02375A"/>
                </a:solidFill>
                <a:latin typeface="Poppins"/>
                <a:ea typeface="Poppins"/>
                <a:cs typeface="Poppins"/>
                <a:sym typeface="Poppins"/>
              </a:rPr>
              <a:t>Learn how to navigate and use the platform efficiently.</a:t>
            </a:r>
          </a:p>
          <a:p>
            <a:pPr algn="just" marL="298543" indent="-149271" lvl="1">
              <a:lnSpc>
                <a:spcPts val="1935"/>
              </a:lnSpc>
              <a:buFont typeface="Arial"/>
              <a:buChar char="•"/>
            </a:pPr>
            <a:r>
              <a:rPr lang="en-US" sz="1382">
                <a:solidFill>
                  <a:srgbClr val="02375A"/>
                </a:solidFill>
                <a:latin typeface="Poppins"/>
                <a:ea typeface="Poppins"/>
                <a:cs typeface="Poppins"/>
                <a:sym typeface="Poppins"/>
              </a:rPr>
              <a:t>Get detailed information on services, pricing, and policies.</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2375A"/>
        </a:solidFill>
      </p:bgPr>
    </p:bg>
    <p:spTree>
      <p:nvGrpSpPr>
        <p:cNvPr id="1" name=""/>
        <p:cNvGrpSpPr/>
        <p:nvPr/>
      </p:nvGrpSpPr>
      <p:grpSpPr>
        <a:xfrm>
          <a:off x="0" y="0"/>
          <a:ext cx="0" cy="0"/>
          <a:chOff x="0" y="0"/>
          <a:chExt cx="0" cy="0"/>
        </a:xfrm>
      </p:grpSpPr>
      <p:grpSp>
        <p:nvGrpSpPr>
          <p:cNvPr name="Group 2" id="2"/>
          <p:cNvGrpSpPr/>
          <p:nvPr/>
        </p:nvGrpSpPr>
        <p:grpSpPr>
          <a:xfrm rot="5400000">
            <a:off x="1543336" y="-679560"/>
            <a:ext cx="8394524" cy="11481197"/>
            <a:chOff x="0" y="0"/>
            <a:chExt cx="565407" cy="773308"/>
          </a:xfrm>
        </p:grpSpPr>
        <p:sp>
          <p:nvSpPr>
            <p:cNvPr name="Freeform 3" id="3"/>
            <p:cNvSpPr/>
            <p:nvPr/>
          </p:nvSpPr>
          <p:spPr>
            <a:xfrm flipH="false" flipV="false" rot="0">
              <a:off x="0" y="0"/>
              <a:ext cx="565407" cy="773308"/>
            </a:xfrm>
            <a:custGeom>
              <a:avLst/>
              <a:gdLst/>
              <a:ahLst/>
              <a:cxnLst/>
              <a:rect r="r" b="b" t="t" l="l"/>
              <a:pathLst>
                <a:path h="773308" w="565407">
                  <a:moveTo>
                    <a:pt x="188571" y="19070"/>
                  </a:moveTo>
                  <a:cubicBezTo>
                    <a:pt x="217464" y="7556"/>
                    <a:pt x="250512" y="0"/>
                    <a:pt x="282856" y="0"/>
                  </a:cubicBezTo>
                  <a:cubicBezTo>
                    <a:pt x="315200" y="0"/>
                    <a:pt x="346324" y="6476"/>
                    <a:pt x="375005" y="17990"/>
                  </a:cubicBezTo>
                  <a:cubicBezTo>
                    <a:pt x="375616" y="18350"/>
                    <a:pt x="376226" y="18350"/>
                    <a:pt x="376836" y="18710"/>
                  </a:cubicBezTo>
                  <a:cubicBezTo>
                    <a:pt x="484547" y="64765"/>
                    <a:pt x="563882" y="186379"/>
                    <a:pt x="565407" y="327625"/>
                  </a:cubicBezTo>
                  <a:lnTo>
                    <a:pt x="565407" y="773308"/>
                  </a:lnTo>
                  <a:lnTo>
                    <a:pt x="0" y="773308"/>
                  </a:lnTo>
                  <a:lnTo>
                    <a:pt x="0" y="327956"/>
                  </a:lnTo>
                  <a:cubicBezTo>
                    <a:pt x="1526" y="185660"/>
                    <a:pt x="79639" y="64045"/>
                    <a:pt x="188571" y="19070"/>
                  </a:cubicBezTo>
                  <a:close/>
                </a:path>
              </a:pathLst>
            </a:custGeom>
            <a:solidFill>
              <a:srgbClr val="E9F3FF"/>
            </a:solidFill>
          </p:spPr>
        </p:sp>
        <p:sp>
          <p:nvSpPr>
            <p:cNvPr name="TextBox 4" id="4"/>
            <p:cNvSpPr txBox="true"/>
            <p:nvPr/>
          </p:nvSpPr>
          <p:spPr>
            <a:xfrm>
              <a:off x="0" y="88900"/>
              <a:ext cx="565407" cy="68440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3133096"/>
            <a:ext cx="3788301" cy="47690"/>
            <a:chOff x="0" y="0"/>
            <a:chExt cx="997742" cy="12560"/>
          </a:xfrm>
        </p:grpSpPr>
        <p:sp>
          <p:nvSpPr>
            <p:cNvPr name="Freeform 7" id="7"/>
            <p:cNvSpPr/>
            <p:nvPr/>
          </p:nvSpPr>
          <p:spPr>
            <a:xfrm flipH="false" flipV="false" rot="0">
              <a:off x="0" y="0"/>
              <a:ext cx="997742" cy="12560"/>
            </a:xfrm>
            <a:custGeom>
              <a:avLst/>
              <a:gdLst/>
              <a:ahLst/>
              <a:cxnLst/>
              <a:rect r="r" b="b" t="t" l="l"/>
              <a:pathLst>
                <a:path h="12560" w="997742">
                  <a:moveTo>
                    <a:pt x="6280" y="0"/>
                  </a:moveTo>
                  <a:lnTo>
                    <a:pt x="991462" y="0"/>
                  </a:lnTo>
                  <a:cubicBezTo>
                    <a:pt x="994930" y="0"/>
                    <a:pt x="997742" y="2812"/>
                    <a:pt x="997742" y="6280"/>
                  </a:cubicBezTo>
                  <a:lnTo>
                    <a:pt x="997742" y="6280"/>
                  </a:lnTo>
                  <a:cubicBezTo>
                    <a:pt x="997742" y="7946"/>
                    <a:pt x="997080" y="9543"/>
                    <a:pt x="995902" y="10721"/>
                  </a:cubicBezTo>
                  <a:cubicBezTo>
                    <a:pt x="994725" y="11899"/>
                    <a:pt x="993127" y="12560"/>
                    <a:pt x="991462" y="12560"/>
                  </a:cubicBezTo>
                  <a:lnTo>
                    <a:pt x="6280" y="12560"/>
                  </a:lnTo>
                  <a:cubicBezTo>
                    <a:pt x="4615" y="12560"/>
                    <a:pt x="3017" y="11899"/>
                    <a:pt x="1839" y="10721"/>
                  </a:cubicBezTo>
                  <a:cubicBezTo>
                    <a:pt x="662" y="9543"/>
                    <a:pt x="0" y="7946"/>
                    <a:pt x="0" y="6280"/>
                  </a:cubicBezTo>
                  <a:lnTo>
                    <a:pt x="0" y="6280"/>
                  </a:lnTo>
                  <a:cubicBezTo>
                    <a:pt x="0" y="4615"/>
                    <a:pt x="662" y="3017"/>
                    <a:pt x="1839" y="1839"/>
                  </a:cubicBezTo>
                  <a:cubicBezTo>
                    <a:pt x="3017" y="662"/>
                    <a:pt x="4615" y="0"/>
                    <a:pt x="6280" y="0"/>
                  </a:cubicBezTo>
                  <a:close/>
                </a:path>
              </a:pathLst>
            </a:custGeom>
            <a:solidFill>
              <a:srgbClr val="003C64"/>
            </a:solidFill>
          </p:spPr>
        </p:sp>
        <p:sp>
          <p:nvSpPr>
            <p:cNvPr name="TextBox 8" id="8"/>
            <p:cNvSpPr txBox="true"/>
            <p:nvPr/>
          </p:nvSpPr>
          <p:spPr>
            <a:xfrm>
              <a:off x="0" y="-38100"/>
              <a:ext cx="997742" cy="5066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347514" y="1070638"/>
            <a:ext cx="5055810" cy="6849004"/>
          </a:xfrm>
          <a:custGeom>
            <a:avLst/>
            <a:gdLst/>
            <a:ahLst/>
            <a:cxnLst/>
            <a:rect r="r" b="b" t="t" l="l"/>
            <a:pathLst>
              <a:path h="6849004" w="5055810">
                <a:moveTo>
                  <a:pt x="0" y="0"/>
                </a:moveTo>
                <a:lnTo>
                  <a:pt x="5055810" y="0"/>
                </a:lnTo>
                <a:lnTo>
                  <a:pt x="5055810" y="6849003"/>
                </a:lnTo>
                <a:lnTo>
                  <a:pt x="0" y="68490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1813029"/>
            <a:ext cx="4912704" cy="1122680"/>
          </a:xfrm>
          <a:prstGeom prst="rect">
            <a:avLst/>
          </a:prstGeom>
        </p:spPr>
        <p:txBody>
          <a:bodyPr anchor="t" rtlCol="false" tIns="0" lIns="0" bIns="0" rIns="0">
            <a:spAutoFit/>
          </a:bodyPr>
          <a:lstStyle/>
          <a:p>
            <a:pPr algn="l">
              <a:lnSpc>
                <a:spcPts val="8560"/>
              </a:lnSpc>
            </a:pPr>
            <a:r>
              <a:rPr lang="en-US" b="true" sz="8000">
                <a:solidFill>
                  <a:srgbClr val="003C64"/>
                </a:solidFill>
                <a:latin typeface="Antonio Bold"/>
                <a:ea typeface="Antonio Bold"/>
                <a:cs typeface="Antonio Bold"/>
                <a:sym typeface="Antonio Bold"/>
              </a:rPr>
              <a:t>FEATURES</a:t>
            </a:r>
          </a:p>
        </p:txBody>
      </p:sp>
      <p:sp>
        <p:nvSpPr>
          <p:cNvPr name="TextBox 11" id="11"/>
          <p:cNvSpPr txBox="true"/>
          <p:nvPr/>
        </p:nvSpPr>
        <p:spPr>
          <a:xfrm rot="0">
            <a:off x="760699" y="4439552"/>
            <a:ext cx="4772663" cy="2433929"/>
          </a:xfrm>
          <a:prstGeom prst="rect">
            <a:avLst/>
          </a:prstGeom>
        </p:spPr>
        <p:txBody>
          <a:bodyPr anchor="t" rtlCol="false" tIns="0" lIns="0" bIns="0" rIns="0">
            <a:spAutoFit/>
          </a:bodyPr>
          <a:lstStyle/>
          <a:p>
            <a:pPr algn="just" marL="595812" indent="-297906" lvl="1">
              <a:lnSpc>
                <a:spcPts val="3863"/>
              </a:lnSpc>
              <a:buFont typeface="Arial"/>
              <a:buChar char="•"/>
            </a:pPr>
            <a:r>
              <a:rPr lang="en-US" sz="2759">
                <a:solidFill>
                  <a:srgbClr val="003C64"/>
                </a:solidFill>
                <a:latin typeface="Poppins"/>
                <a:ea typeface="Poppins"/>
                <a:cs typeface="Poppins"/>
                <a:sym typeface="Poppins"/>
              </a:rPr>
              <a:t>Home Page</a:t>
            </a:r>
          </a:p>
          <a:p>
            <a:pPr algn="just" marL="595812" indent="-297906" lvl="1">
              <a:lnSpc>
                <a:spcPts val="3863"/>
              </a:lnSpc>
              <a:buFont typeface="Arial"/>
              <a:buChar char="•"/>
            </a:pPr>
            <a:r>
              <a:rPr lang="en-US" sz="2759">
                <a:solidFill>
                  <a:srgbClr val="003C64"/>
                </a:solidFill>
                <a:latin typeface="Poppins"/>
                <a:ea typeface="Poppins"/>
                <a:cs typeface="Poppins"/>
                <a:sym typeface="Poppins"/>
              </a:rPr>
              <a:t>User Authentication</a:t>
            </a:r>
          </a:p>
          <a:p>
            <a:pPr algn="just" marL="595812" indent="-297906" lvl="1">
              <a:lnSpc>
                <a:spcPts val="3863"/>
              </a:lnSpc>
              <a:buFont typeface="Arial"/>
              <a:buChar char="•"/>
            </a:pPr>
            <a:r>
              <a:rPr lang="en-US" sz="2759">
                <a:solidFill>
                  <a:srgbClr val="003C64"/>
                </a:solidFill>
                <a:latin typeface="Poppins"/>
                <a:ea typeface="Poppins"/>
                <a:cs typeface="Poppins"/>
                <a:sym typeface="Poppins"/>
              </a:rPr>
              <a:t>Doctor Appointment</a:t>
            </a:r>
          </a:p>
          <a:p>
            <a:pPr algn="just" marL="595812" indent="-297906" lvl="1">
              <a:lnSpc>
                <a:spcPts val="3863"/>
              </a:lnSpc>
              <a:buFont typeface="Arial"/>
              <a:buChar char="•"/>
            </a:pPr>
            <a:r>
              <a:rPr lang="en-US" sz="2759">
                <a:solidFill>
                  <a:srgbClr val="003C64"/>
                </a:solidFill>
                <a:latin typeface="Poppins"/>
                <a:ea typeface="Poppins"/>
                <a:cs typeface="Poppins"/>
                <a:sym typeface="Poppins"/>
              </a:rPr>
              <a:t>Find Ambulance</a:t>
            </a:r>
          </a:p>
          <a:p>
            <a:pPr algn="just" marL="595812" indent="-297906" lvl="1">
              <a:lnSpc>
                <a:spcPts val="3863"/>
              </a:lnSpc>
              <a:buFont typeface="Arial"/>
              <a:buChar char="•"/>
            </a:pPr>
            <a:r>
              <a:rPr lang="en-US" sz="2759">
                <a:solidFill>
                  <a:srgbClr val="003C64"/>
                </a:solidFill>
                <a:latin typeface="Poppins"/>
                <a:ea typeface="Poppins"/>
                <a:cs typeface="Poppins"/>
                <a:sym typeface="Poppins"/>
              </a:rPr>
              <a:t>Book Check-Ups</a:t>
            </a:r>
          </a:p>
        </p:txBody>
      </p:sp>
      <p:sp>
        <p:nvSpPr>
          <p:cNvPr name="TextBox 12" id="12"/>
          <p:cNvSpPr txBox="true"/>
          <p:nvPr/>
        </p:nvSpPr>
        <p:spPr>
          <a:xfrm rot="0">
            <a:off x="6464414" y="4449077"/>
            <a:ext cx="3082377" cy="2592237"/>
          </a:xfrm>
          <a:prstGeom prst="rect">
            <a:avLst/>
          </a:prstGeom>
        </p:spPr>
        <p:txBody>
          <a:bodyPr anchor="t" rtlCol="false" tIns="0" lIns="0" bIns="0" rIns="0">
            <a:spAutoFit/>
          </a:bodyPr>
          <a:lstStyle/>
          <a:p>
            <a:pPr algn="just" marL="529364" indent="-264682" lvl="1">
              <a:lnSpc>
                <a:spcPts val="3432"/>
              </a:lnSpc>
              <a:buFont typeface="Arial"/>
              <a:buChar char="•"/>
            </a:pPr>
            <a:r>
              <a:rPr lang="en-US" sz="2451">
                <a:solidFill>
                  <a:srgbClr val="003C64"/>
                </a:solidFill>
                <a:latin typeface="Poppins"/>
                <a:ea typeface="Poppins"/>
                <a:cs typeface="Poppins"/>
                <a:sym typeface="Poppins"/>
              </a:rPr>
              <a:t>Review Doctors, Services</a:t>
            </a:r>
          </a:p>
          <a:p>
            <a:pPr algn="just" marL="529364" indent="-264682" lvl="1">
              <a:lnSpc>
                <a:spcPts val="3432"/>
              </a:lnSpc>
              <a:buFont typeface="Arial"/>
              <a:buChar char="•"/>
            </a:pPr>
            <a:r>
              <a:rPr lang="en-US" sz="2451">
                <a:solidFill>
                  <a:srgbClr val="003C64"/>
                </a:solidFill>
                <a:latin typeface="Poppins"/>
                <a:ea typeface="Poppins"/>
                <a:cs typeface="Poppins"/>
                <a:sym typeface="Poppins"/>
              </a:rPr>
              <a:t>Digital Payment Method</a:t>
            </a:r>
          </a:p>
          <a:p>
            <a:pPr algn="just" marL="529364" indent="-264682" lvl="1">
              <a:lnSpc>
                <a:spcPts val="3432"/>
              </a:lnSpc>
              <a:buFont typeface="Arial"/>
              <a:buChar char="•"/>
            </a:pPr>
            <a:r>
              <a:rPr lang="en-US" sz="2451">
                <a:solidFill>
                  <a:srgbClr val="003C64"/>
                </a:solidFill>
                <a:latin typeface="Poppins"/>
                <a:ea typeface="Poppins"/>
                <a:cs typeface="Poppins"/>
                <a:sym typeface="Poppins"/>
              </a:rPr>
              <a:t>FAQ </a:t>
            </a:r>
          </a:p>
          <a:p>
            <a:pPr algn="just">
              <a:lnSpc>
                <a:spcPts val="3432"/>
              </a:lnSpc>
            </a:pPr>
          </a:p>
        </p:txBody>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2375A"/>
        </a:solidFill>
      </p:bgPr>
    </p:bg>
    <p:spTree>
      <p:nvGrpSpPr>
        <p:cNvPr id="1" name=""/>
        <p:cNvGrpSpPr/>
        <p:nvPr/>
      </p:nvGrpSpPr>
      <p:grpSpPr>
        <a:xfrm>
          <a:off x="0" y="0"/>
          <a:ext cx="0" cy="0"/>
          <a:chOff x="0" y="0"/>
          <a:chExt cx="0" cy="0"/>
        </a:xfrm>
      </p:grpSpPr>
      <p:grpSp>
        <p:nvGrpSpPr>
          <p:cNvPr name="Group 2" id="2"/>
          <p:cNvGrpSpPr/>
          <p:nvPr/>
        </p:nvGrpSpPr>
        <p:grpSpPr>
          <a:xfrm rot="0">
            <a:off x="2128567" y="1247528"/>
            <a:ext cx="8619607" cy="7627020"/>
            <a:chOff x="0" y="0"/>
            <a:chExt cx="2270184" cy="2008762"/>
          </a:xfrm>
        </p:grpSpPr>
        <p:sp>
          <p:nvSpPr>
            <p:cNvPr name="Freeform 3" id="3"/>
            <p:cNvSpPr/>
            <p:nvPr/>
          </p:nvSpPr>
          <p:spPr>
            <a:xfrm flipH="false" flipV="false" rot="0">
              <a:off x="0" y="0"/>
              <a:ext cx="2270184" cy="2008762"/>
            </a:xfrm>
            <a:custGeom>
              <a:avLst/>
              <a:gdLst/>
              <a:ahLst/>
              <a:cxnLst/>
              <a:rect r="r" b="b" t="t" l="l"/>
              <a:pathLst>
                <a:path h="2008762" w="2270184">
                  <a:moveTo>
                    <a:pt x="89818" y="0"/>
                  </a:moveTo>
                  <a:lnTo>
                    <a:pt x="2180367" y="0"/>
                  </a:lnTo>
                  <a:cubicBezTo>
                    <a:pt x="2204188" y="0"/>
                    <a:pt x="2227033" y="9463"/>
                    <a:pt x="2243878" y="26307"/>
                  </a:cubicBezTo>
                  <a:cubicBezTo>
                    <a:pt x="2260722" y="43151"/>
                    <a:pt x="2270184" y="65996"/>
                    <a:pt x="2270184" y="89818"/>
                  </a:cubicBezTo>
                  <a:lnTo>
                    <a:pt x="2270184" y="1918945"/>
                  </a:lnTo>
                  <a:cubicBezTo>
                    <a:pt x="2270184" y="1942766"/>
                    <a:pt x="2260722" y="1965611"/>
                    <a:pt x="2243878" y="1982456"/>
                  </a:cubicBezTo>
                  <a:cubicBezTo>
                    <a:pt x="2227033" y="1999300"/>
                    <a:pt x="2204188" y="2008762"/>
                    <a:pt x="2180367" y="2008762"/>
                  </a:cubicBezTo>
                  <a:lnTo>
                    <a:pt x="89818" y="2008762"/>
                  </a:lnTo>
                  <a:cubicBezTo>
                    <a:pt x="65996" y="2008762"/>
                    <a:pt x="43151" y="1999300"/>
                    <a:pt x="26307" y="1982456"/>
                  </a:cubicBezTo>
                  <a:cubicBezTo>
                    <a:pt x="9463" y="1965611"/>
                    <a:pt x="0" y="1942766"/>
                    <a:pt x="0" y="1918945"/>
                  </a:cubicBezTo>
                  <a:lnTo>
                    <a:pt x="0" y="89818"/>
                  </a:lnTo>
                  <a:cubicBezTo>
                    <a:pt x="0" y="65996"/>
                    <a:pt x="9463" y="43151"/>
                    <a:pt x="26307" y="26307"/>
                  </a:cubicBezTo>
                  <a:cubicBezTo>
                    <a:pt x="43151" y="9463"/>
                    <a:pt x="65996" y="0"/>
                    <a:pt x="89818" y="0"/>
                  </a:cubicBezTo>
                  <a:close/>
                </a:path>
              </a:pathLst>
            </a:custGeom>
            <a:solidFill>
              <a:srgbClr val="E9F3FF"/>
            </a:solidFill>
          </p:spPr>
        </p:sp>
        <p:sp>
          <p:nvSpPr>
            <p:cNvPr name="TextBox 4" id="4"/>
            <p:cNvSpPr txBox="true"/>
            <p:nvPr/>
          </p:nvSpPr>
          <p:spPr>
            <a:xfrm>
              <a:off x="0" y="-38100"/>
              <a:ext cx="2270184" cy="204686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1738175" y="1729014"/>
            <a:ext cx="4263580" cy="7282512"/>
          </a:xfrm>
          <a:custGeom>
            <a:avLst/>
            <a:gdLst/>
            <a:ahLst/>
            <a:cxnLst/>
            <a:rect r="r" b="b" t="t" l="l"/>
            <a:pathLst>
              <a:path h="7282512" w="4263580">
                <a:moveTo>
                  <a:pt x="4263580" y="0"/>
                </a:moveTo>
                <a:lnTo>
                  <a:pt x="0" y="0"/>
                </a:lnTo>
                <a:lnTo>
                  <a:pt x="0" y="7282512"/>
                </a:lnTo>
                <a:lnTo>
                  <a:pt x="4263580" y="7282512"/>
                </a:lnTo>
                <a:lnTo>
                  <a:pt x="42635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608997" y="1803504"/>
            <a:ext cx="8767800" cy="1132205"/>
          </a:xfrm>
          <a:prstGeom prst="rect">
            <a:avLst/>
          </a:prstGeom>
        </p:spPr>
        <p:txBody>
          <a:bodyPr anchor="t" rtlCol="false" tIns="0" lIns="0" bIns="0" rIns="0">
            <a:spAutoFit/>
          </a:bodyPr>
          <a:lstStyle/>
          <a:p>
            <a:pPr algn="l">
              <a:lnSpc>
                <a:spcPts val="7276"/>
              </a:lnSpc>
            </a:pPr>
            <a:r>
              <a:rPr lang="en-US" b="true" sz="6800">
                <a:solidFill>
                  <a:srgbClr val="003C64"/>
                </a:solidFill>
                <a:latin typeface="Antonio Bold"/>
                <a:ea typeface="Antonio Bold"/>
                <a:cs typeface="Antonio Bold"/>
                <a:sym typeface="Antonio Bold"/>
              </a:rPr>
              <a:t>SOCIAL BENEFITS</a:t>
            </a:r>
          </a:p>
        </p:txBody>
      </p:sp>
      <p:sp>
        <p:nvSpPr>
          <p:cNvPr name="AutoShape 8" id="8"/>
          <p:cNvSpPr/>
          <p:nvPr/>
        </p:nvSpPr>
        <p:spPr>
          <a:xfrm flipV="true">
            <a:off x="3640146" y="3060685"/>
            <a:ext cx="5049324" cy="19050"/>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3640074" y="3574838"/>
            <a:ext cx="8705645" cy="3070649"/>
          </a:xfrm>
          <a:prstGeom prst="rect">
            <a:avLst/>
          </a:prstGeom>
        </p:spPr>
        <p:txBody>
          <a:bodyPr anchor="t" rtlCol="false" tIns="0" lIns="0" bIns="0" rIns="0">
            <a:spAutoFit/>
          </a:bodyPr>
          <a:lstStyle/>
          <a:p>
            <a:pPr algn="just" marL="536148" indent="-268074" lvl="1">
              <a:lnSpc>
                <a:spcPts val="3476"/>
              </a:lnSpc>
              <a:buAutoNum type="arabicPeriod" startAt="1"/>
            </a:pPr>
            <a:r>
              <a:rPr lang="en-US" sz="2483">
                <a:solidFill>
                  <a:srgbClr val="02375A"/>
                </a:solidFill>
                <a:latin typeface="Poppins"/>
                <a:ea typeface="Poppins"/>
                <a:cs typeface="Poppins"/>
                <a:sym typeface="Poppins"/>
              </a:rPr>
              <a:t> Fast Communication</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Accessible Healthcare for all</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 Emergency Support</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Affordable Services</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Time saving solutions</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Support for Rural Areas</a:t>
            </a:r>
          </a:p>
          <a:p>
            <a:pPr algn="just" marL="536148" indent="-268074" lvl="1">
              <a:lnSpc>
                <a:spcPts val="3476"/>
              </a:lnSpc>
              <a:buAutoNum type="arabicPeriod" startAt="1"/>
            </a:pPr>
            <a:r>
              <a:rPr lang="en-US" sz="2483">
                <a:solidFill>
                  <a:srgbClr val="02375A"/>
                </a:solidFill>
                <a:latin typeface="Poppins"/>
                <a:ea typeface="Poppins"/>
                <a:cs typeface="Poppins"/>
                <a:sym typeface="Poppins"/>
              </a:rPr>
              <a:t> Fast technological support</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2375A"/>
        </a:solidFill>
      </p:bgPr>
    </p:bg>
    <p:spTree>
      <p:nvGrpSpPr>
        <p:cNvPr id="1" name=""/>
        <p:cNvGrpSpPr/>
        <p:nvPr/>
      </p:nvGrpSpPr>
      <p:grpSpPr>
        <a:xfrm>
          <a:off x="0" y="0"/>
          <a:ext cx="0" cy="0"/>
          <a:chOff x="0" y="0"/>
          <a:chExt cx="0" cy="0"/>
        </a:xfrm>
      </p:grpSpPr>
      <p:grpSp>
        <p:nvGrpSpPr>
          <p:cNvPr name="Group 2" id="2"/>
          <p:cNvGrpSpPr/>
          <p:nvPr/>
        </p:nvGrpSpPr>
        <p:grpSpPr>
          <a:xfrm rot="5400000">
            <a:off x="2148745" y="-2230160"/>
            <a:ext cx="10368415" cy="14665905"/>
            <a:chOff x="0" y="0"/>
            <a:chExt cx="749147" cy="1059653"/>
          </a:xfrm>
        </p:grpSpPr>
        <p:sp>
          <p:nvSpPr>
            <p:cNvPr name="Freeform 3" id="3"/>
            <p:cNvSpPr/>
            <p:nvPr/>
          </p:nvSpPr>
          <p:spPr>
            <a:xfrm flipH="false" flipV="false" rot="0">
              <a:off x="0" y="0"/>
              <a:ext cx="749147" cy="1059653"/>
            </a:xfrm>
            <a:custGeom>
              <a:avLst/>
              <a:gdLst/>
              <a:ahLst/>
              <a:cxnLst/>
              <a:rect r="r" b="b" t="t" l="l"/>
              <a:pathLst>
                <a:path h="1059653" w="749147">
                  <a:moveTo>
                    <a:pt x="249851" y="19070"/>
                  </a:moveTo>
                  <a:cubicBezTo>
                    <a:pt x="288133" y="7556"/>
                    <a:pt x="331921" y="0"/>
                    <a:pt x="374775" y="0"/>
                  </a:cubicBezTo>
                  <a:cubicBezTo>
                    <a:pt x="417631" y="0"/>
                    <a:pt x="458868" y="6476"/>
                    <a:pt x="496870" y="17990"/>
                  </a:cubicBezTo>
                  <a:cubicBezTo>
                    <a:pt x="497680" y="18350"/>
                    <a:pt x="498488" y="18350"/>
                    <a:pt x="499296" y="18710"/>
                  </a:cubicBezTo>
                  <a:cubicBezTo>
                    <a:pt x="642010" y="64765"/>
                    <a:pt x="747126" y="186379"/>
                    <a:pt x="749147" y="333985"/>
                  </a:cubicBezTo>
                  <a:lnTo>
                    <a:pt x="749147" y="1059653"/>
                  </a:lnTo>
                  <a:lnTo>
                    <a:pt x="0" y="1059653"/>
                  </a:lnTo>
                  <a:lnTo>
                    <a:pt x="0" y="334524"/>
                  </a:lnTo>
                  <a:cubicBezTo>
                    <a:pt x="2021" y="185660"/>
                    <a:pt x="105519" y="64045"/>
                    <a:pt x="249851" y="19070"/>
                  </a:cubicBezTo>
                  <a:close/>
                </a:path>
              </a:pathLst>
            </a:custGeom>
            <a:solidFill>
              <a:srgbClr val="E9F3FF"/>
            </a:solidFill>
          </p:spPr>
        </p:sp>
        <p:sp>
          <p:nvSpPr>
            <p:cNvPr name="TextBox 4" id="4"/>
            <p:cNvSpPr txBox="true"/>
            <p:nvPr/>
          </p:nvSpPr>
          <p:spPr>
            <a:xfrm>
              <a:off x="0" y="88900"/>
              <a:ext cx="749147" cy="97075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368813" y="423496"/>
            <a:ext cx="1325616" cy="1294283"/>
          </a:xfrm>
          <a:custGeom>
            <a:avLst/>
            <a:gdLst/>
            <a:ahLst/>
            <a:cxnLst/>
            <a:rect r="r" b="b" t="t" l="l"/>
            <a:pathLst>
              <a:path h="1294283" w="1325616">
                <a:moveTo>
                  <a:pt x="0" y="0"/>
                </a:moveTo>
                <a:lnTo>
                  <a:pt x="1325615" y="0"/>
                </a:lnTo>
                <a:lnTo>
                  <a:pt x="1325615" y="1294283"/>
                </a:lnTo>
                <a:lnTo>
                  <a:pt x="0" y="1294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3178037" y="2245127"/>
            <a:ext cx="5230828" cy="47625"/>
            <a:chOff x="0" y="0"/>
            <a:chExt cx="1377667" cy="12543"/>
          </a:xfrm>
        </p:grpSpPr>
        <p:sp>
          <p:nvSpPr>
            <p:cNvPr name="Freeform 7" id="7"/>
            <p:cNvSpPr/>
            <p:nvPr/>
          </p:nvSpPr>
          <p:spPr>
            <a:xfrm flipH="false" flipV="false" rot="0">
              <a:off x="0" y="0"/>
              <a:ext cx="1377667" cy="12543"/>
            </a:xfrm>
            <a:custGeom>
              <a:avLst/>
              <a:gdLst/>
              <a:ahLst/>
              <a:cxnLst/>
              <a:rect r="r" b="b" t="t" l="l"/>
              <a:pathLst>
                <a:path h="12543" w="1377667">
                  <a:moveTo>
                    <a:pt x="6272" y="0"/>
                  </a:moveTo>
                  <a:lnTo>
                    <a:pt x="1371395" y="0"/>
                  </a:lnTo>
                  <a:cubicBezTo>
                    <a:pt x="1373058" y="0"/>
                    <a:pt x="1374654" y="661"/>
                    <a:pt x="1375830" y="1837"/>
                  </a:cubicBezTo>
                  <a:cubicBezTo>
                    <a:pt x="1377006" y="3013"/>
                    <a:pt x="1377667" y="4608"/>
                    <a:pt x="1377667" y="6272"/>
                  </a:cubicBezTo>
                  <a:lnTo>
                    <a:pt x="1377667" y="6272"/>
                  </a:lnTo>
                  <a:cubicBezTo>
                    <a:pt x="1377667" y="7935"/>
                    <a:pt x="1377006" y="9530"/>
                    <a:pt x="1375830" y="10706"/>
                  </a:cubicBezTo>
                  <a:cubicBezTo>
                    <a:pt x="1374654" y="11882"/>
                    <a:pt x="1373058" y="12543"/>
                    <a:pt x="137139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003C64"/>
            </a:solidFill>
          </p:spPr>
        </p:sp>
        <p:sp>
          <p:nvSpPr>
            <p:cNvPr name="TextBox 8" id="8"/>
            <p:cNvSpPr txBox="true"/>
            <p:nvPr/>
          </p:nvSpPr>
          <p:spPr>
            <a:xfrm>
              <a:off x="0" y="-38100"/>
              <a:ext cx="1377667" cy="5064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2383876" y="945486"/>
            <a:ext cx="4564058" cy="7515665"/>
          </a:xfrm>
          <a:custGeom>
            <a:avLst/>
            <a:gdLst/>
            <a:ahLst/>
            <a:cxnLst/>
            <a:rect r="r" b="b" t="t" l="l"/>
            <a:pathLst>
              <a:path h="7515665" w="4564058">
                <a:moveTo>
                  <a:pt x="0" y="0"/>
                </a:moveTo>
                <a:lnTo>
                  <a:pt x="4564058" y="0"/>
                </a:lnTo>
                <a:lnTo>
                  <a:pt x="4564058" y="7515665"/>
                </a:lnTo>
                <a:lnTo>
                  <a:pt x="0" y="75156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455466" y="853600"/>
            <a:ext cx="4912704" cy="1122680"/>
          </a:xfrm>
          <a:prstGeom prst="rect">
            <a:avLst/>
          </a:prstGeom>
        </p:spPr>
        <p:txBody>
          <a:bodyPr anchor="t" rtlCol="false" tIns="0" lIns="0" bIns="0" rIns="0">
            <a:spAutoFit/>
          </a:bodyPr>
          <a:lstStyle/>
          <a:p>
            <a:pPr algn="l">
              <a:lnSpc>
                <a:spcPts val="8560"/>
              </a:lnSpc>
            </a:pPr>
            <a:r>
              <a:rPr lang="en-US" b="true" sz="8000">
                <a:solidFill>
                  <a:srgbClr val="034172"/>
                </a:solidFill>
                <a:latin typeface="Antonio Bold"/>
                <a:ea typeface="Antonio Bold"/>
                <a:cs typeface="Antonio Bold"/>
                <a:sym typeface="Antonio Bold"/>
              </a:rPr>
              <a:t>GET IN TOUCH</a:t>
            </a:r>
          </a:p>
        </p:txBody>
      </p:sp>
      <p:sp>
        <p:nvSpPr>
          <p:cNvPr name="TextBox 11" id="11"/>
          <p:cNvSpPr txBox="true"/>
          <p:nvPr/>
        </p:nvSpPr>
        <p:spPr>
          <a:xfrm rot="0">
            <a:off x="1853320" y="4331650"/>
            <a:ext cx="9913273" cy="1154016"/>
          </a:xfrm>
          <a:prstGeom prst="rect">
            <a:avLst/>
          </a:prstGeom>
        </p:spPr>
        <p:txBody>
          <a:bodyPr anchor="t" rtlCol="false" tIns="0" lIns="0" bIns="0" rIns="0">
            <a:spAutoFit/>
          </a:bodyPr>
          <a:lstStyle/>
          <a:p>
            <a:pPr algn="just">
              <a:lnSpc>
                <a:spcPts val="4565"/>
              </a:lnSpc>
            </a:pPr>
            <a:r>
              <a:rPr lang="en-US" sz="3261">
                <a:solidFill>
                  <a:srgbClr val="034172"/>
                </a:solidFill>
                <a:latin typeface="Poppins"/>
                <a:ea typeface="Poppins"/>
                <a:cs typeface="Poppins"/>
                <a:sym typeface="Poppins"/>
              </a:rPr>
              <a:t>Github:https://github.com/Buzcode/seren-blue</a:t>
            </a:r>
          </a:p>
          <a:p>
            <a:pPr algn="just">
              <a:lnSpc>
                <a:spcPts val="4565"/>
              </a:lnSpc>
            </a:pPr>
          </a:p>
        </p:txBody>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DAGbzVlLnNo</dc:identifier>
  <dcterms:modified xsi:type="dcterms:W3CDTF">2011-08-01T06:04:30Z</dcterms:modified>
  <cp:revision>1</cp:revision>
  <dc:title>Templates &amp; Apps</dc:title>
</cp:coreProperties>
</file>